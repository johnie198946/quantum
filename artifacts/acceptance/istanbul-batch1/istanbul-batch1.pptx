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hoto:cover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0"/>
            <a:ext cx="9753600" cy="6858000"/>
          </a:xfrm>
          <a:prstGeom prst="rect">
            <a:avLst/>
          </a:prstGeom>
        </p:spPr>
      </p:pic>
      <p:sp>
        <p:nvSpPr>
          <p:cNvPr id="3" name="panel:hero"/>
          <p:cNvSpPr/>
          <p:nvPr/>
        </p:nvSpPr>
        <p:spPr>
          <a:xfrm>
            <a:off x="594360" y="4160520"/>
            <a:ext cx="6583680" cy="1965960"/>
          </a:xfrm>
          <a:prstGeom prst="rect">
            <a:avLst/>
          </a:prstGeom>
          <a:solidFill>
            <a:srgbClr val="17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:hero-title"/>
          <p:cNvSpPr txBox="1"/>
          <p:nvPr/>
        </p:nvSpPr>
        <p:spPr>
          <a:xfrm>
            <a:off x="914400" y="4407408"/>
            <a:ext cx="5943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venir Next"/>
              </a:rPr>
              <a:t>Istanbul · Between Continents</a:t>
            </a:r>
          </a:p>
        </p:txBody>
      </p:sp>
      <p:sp>
        <p:nvSpPr>
          <p:cNvPr id="5" name="text:hero-subtitle"/>
          <p:cNvSpPr txBox="1"/>
          <p:nvPr/>
        </p:nvSpPr>
        <p:spPr>
          <a:xfrm>
            <a:off x="932688" y="5285232"/>
            <a:ext cx="57607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Avenir Next"/>
              </a:rPr>
              <a:t>A visual journey across Europe, Asia and the Bosphorus</a:t>
            </a:r>
          </a:p>
        </p:txBody>
      </p:sp>
      <p:sp>
        <p:nvSpPr>
          <p:cNvPr id="6" name="layout:hero_photo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ge-number:footer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27D"/>
                </a:solidFill>
                <a:latin typeface="Avenir Next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2A3A"/>
                </a:solidFill>
                <a:latin typeface="Avenir Next"/>
              </a:rPr>
              <a:t>Turkey’s largest city and economic center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51560" cy="73152"/>
          </a:xfrm>
          <a:prstGeom prst="rect">
            <a:avLst/>
          </a:prstGeom>
          <a:solidFill>
            <a:srgbClr val="D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28016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64727D"/>
                </a:solidFill>
                <a:latin typeface="Avenir Next"/>
              </a:rPr>
              <a:t>Source-bound city profile</a:t>
            </a:r>
          </a:p>
        </p:txBody>
      </p:sp>
      <p:sp>
        <p:nvSpPr>
          <p:cNvPr id="5" name="text:metric"/>
          <p:cNvSpPr txBox="1"/>
          <p:nvPr/>
        </p:nvSpPr>
        <p:spPr>
          <a:xfrm>
            <a:off x="777240" y="1828800"/>
            <a:ext cx="3657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D85A3A"/>
                </a:solidFill>
                <a:latin typeface="Avenir Next"/>
              </a:rPr>
              <a:t>15+ million</a:t>
            </a:r>
          </a:p>
        </p:txBody>
      </p:sp>
      <p:sp>
        <p:nvSpPr>
          <p:cNvPr id="6" name="text:data-body"/>
          <p:cNvSpPr txBox="1"/>
          <p:nvPr/>
        </p:nvSpPr>
        <p:spPr>
          <a:xfrm>
            <a:off x="822960" y="3154680"/>
            <a:ext cx="3749039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72A3A"/>
                </a:solidFill>
                <a:latin typeface="Avenir Next"/>
              </a:rPr>
              <a:t>Istanbul spans both shores of the Bosphorus and remains a vital link between Western and Eastern civilizations.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27448" y="1655064"/>
            <a:ext cx="6729984" cy="4270248"/>
          </a:xfrm>
          <a:prstGeom prst="roundRect">
            <a:avLst/>
          </a:prstGeom>
          <a:solidFill>
            <a:srgbClr val="F3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1783080"/>
            <a:ext cx="64008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A3A"/>
                </a:solidFill>
                <a:latin typeface="Avenir Next"/>
              </a:defRPr>
            </a:pPr>
            <a:r>
              <a:rPr sz="2000" b="0">
                <a:solidFill>
                  <a:srgbClr val="172A3A"/>
                </a:solidFill>
                <a:latin typeface="Avenir Next"/>
              </a:rPr>
              <a:t>Strategic commercial hub for millennia</a:t>
            </a:r>
          </a:p>
          <a:p>
            <a:pPr>
              <a:spcAft>
                <a:spcPts val="1200"/>
              </a:spcAft>
              <a:defRPr sz="2000">
                <a:solidFill>
                  <a:srgbClr val="172A3A"/>
                </a:solidFill>
                <a:latin typeface="Avenir Next"/>
              </a:defRPr>
            </a:pPr>
            <a:r>
              <a:rPr sz="2000" b="0">
                <a:solidFill>
                  <a:srgbClr val="172A3A"/>
                </a:solidFill>
                <a:latin typeface="Avenir Next"/>
              </a:rPr>
              <a:t>Modernity blended with centuries-old traditions</a:t>
            </a:r>
          </a:p>
        </p:txBody>
      </p:sp>
      <p:sp>
        <p:nvSpPr>
          <p:cNvPr id="9" name="layout:data_story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ge-number:footer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27D"/>
                </a:solidFill>
                <a:latin typeface="Avenir Nex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2A3A"/>
                </a:solidFill>
                <a:latin typeface="Avenir Next"/>
              </a:rPr>
              <a:t>Three names, two empires, one city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51560" cy="73152"/>
          </a:xfrm>
          <a:prstGeom prst="rect">
            <a:avLst/>
          </a:prstGeom>
          <a:solidFill>
            <a:srgbClr val="D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28016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64727D"/>
                </a:solidFill>
                <a:latin typeface="Avenir Next"/>
              </a:rPr>
              <a:t>Historical identity from the supplied material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46120"/>
            <a:ext cx="10332720" cy="45720"/>
          </a:xfrm>
          <a:prstGeom prst="rect">
            <a:avLst/>
          </a:prstGeom>
          <a:solidFill>
            <a:srgbClr val="D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8096" y="3118103"/>
            <a:ext cx="310896" cy="310896"/>
          </a:xfrm>
          <a:prstGeom prst="ellipse">
            <a:avLst/>
          </a:prstGeom>
          <a:solidFill>
            <a:srgbClr val="D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47088"/>
            <a:ext cx="2331720" cy="1207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Origins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Byzantium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Historic city name</a:t>
            </a:r>
          </a:p>
        </p:txBody>
      </p:sp>
      <p:sp>
        <p:nvSpPr>
          <p:cNvPr id="8" name="Oval 7"/>
          <p:cNvSpPr/>
          <p:nvPr/>
        </p:nvSpPr>
        <p:spPr>
          <a:xfrm>
            <a:off x="4212336" y="3118103"/>
            <a:ext cx="310896" cy="310896"/>
          </a:xfrm>
          <a:prstGeom prst="ellipse">
            <a:avLst/>
          </a:prstGeom>
          <a:solidFill>
            <a:srgbClr val="D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92780" y="3547872"/>
            <a:ext cx="2331720" cy="1207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Imperial era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Constantinople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Capital of the Byzantine Empire</a:t>
            </a:r>
          </a:p>
        </p:txBody>
      </p:sp>
      <p:sp>
        <p:nvSpPr>
          <p:cNvPr id="10" name="Oval 9"/>
          <p:cNvSpPr/>
          <p:nvPr/>
        </p:nvSpPr>
        <p:spPr>
          <a:xfrm>
            <a:off x="7656576" y="3118103"/>
            <a:ext cx="310896" cy="310896"/>
          </a:xfrm>
          <a:prstGeom prst="ellipse">
            <a:avLst/>
          </a:prstGeom>
          <a:solidFill>
            <a:srgbClr val="D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37020" y="1847088"/>
            <a:ext cx="2331720" cy="1207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Ottoman era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Imperial capital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Capital of the Ottoman Empire</a:t>
            </a:r>
          </a:p>
        </p:txBody>
      </p:sp>
      <p:sp>
        <p:nvSpPr>
          <p:cNvPr id="12" name="Oval 11"/>
          <p:cNvSpPr/>
          <p:nvPr/>
        </p:nvSpPr>
        <p:spPr>
          <a:xfrm>
            <a:off x="11100816" y="3118103"/>
            <a:ext cx="310896" cy="310896"/>
          </a:xfrm>
          <a:prstGeom prst="ellipse">
            <a:avLst/>
          </a:prstGeom>
          <a:solidFill>
            <a:srgbClr val="D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3547872"/>
            <a:ext cx="2331720" cy="1207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Today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Istanbul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Turkey’s largest city</a:t>
            </a:r>
          </a:p>
        </p:txBody>
      </p:sp>
      <p:sp>
        <p:nvSpPr>
          <p:cNvPr id="14" name="layout:timeline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ge-number:footer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27D"/>
                </a:solidFill>
                <a:latin typeface="Avenir Nex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2A3A"/>
                </a:solidFill>
                <a:latin typeface="Avenir Next"/>
              </a:rPr>
              <a:t>Four scenes, one multicultural rhythm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51560" cy="73152"/>
          </a:xfrm>
          <a:prstGeom prst="rect">
            <a:avLst/>
          </a:prstGeom>
          <a:solidFill>
            <a:srgbClr val="D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28016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64727D"/>
                </a:solidFill>
                <a:latin typeface="Avenir Next"/>
              </a:rPr>
              <a:t>Commercial-use licensed photographs from Wikimedia Commons</a:t>
            </a:r>
          </a:p>
        </p:txBody>
      </p:sp>
      <p:sp>
        <p:nvSpPr>
          <p:cNvPr id="5" name="photo-frame:1"/>
          <p:cNvSpPr/>
          <p:nvPr/>
        </p:nvSpPr>
        <p:spPr>
          <a:xfrm>
            <a:off x="640080" y="1691640"/>
            <a:ext cx="5257800" cy="2034540"/>
          </a:xfrm>
          <a:prstGeom prst="rect">
            <a:avLst/>
          </a:prstGeom>
          <a:solidFill>
            <a:srgbClr val="F3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hoto:scene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473" y="1691640"/>
            <a:ext cx="2303012" cy="1650492"/>
          </a:xfrm>
          <a:prstGeom prst="rect">
            <a:avLst/>
          </a:prstGeom>
        </p:spPr>
      </p:pic>
      <p:sp>
        <p:nvSpPr>
          <p:cNvPr id="7" name="source-caption:1"/>
          <p:cNvSpPr txBox="1"/>
          <p:nvPr/>
        </p:nvSpPr>
        <p:spPr>
          <a:xfrm>
            <a:off x="731519" y="3360420"/>
            <a:ext cx="5074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27D"/>
                </a:solidFill>
                <a:latin typeface="Avenir Next"/>
              </a:rPr>
              <a:t>Karaköy ferry · Arild Vågen · CC BY-SA 3.0</a:t>
            </a:r>
          </a:p>
        </p:txBody>
      </p:sp>
      <p:sp>
        <p:nvSpPr>
          <p:cNvPr id="8" name="photo-frame:2"/>
          <p:cNvSpPr/>
          <p:nvPr/>
        </p:nvSpPr>
        <p:spPr>
          <a:xfrm>
            <a:off x="6172200" y="1691640"/>
            <a:ext cx="5257800" cy="2034540"/>
          </a:xfrm>
          <a:prstGeom prst="rect">
            <a:avLst/>
          </a:prstGeom>
          <a:solidFill>
            <a:srgbClr val="F3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hoto:scene-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5162" y="1691640"/>
            <a:ext cx="2471875" cy="1650492"/>
          </a:xfrm>
          <a:prstGeom prst="rect">
            <a:avLst/>
          </a:prstGeom>
        </p:spPr>
      </p:pic>
      <p:sp>
        <p:nvSpPr>
          <p:cNvPr id="10" name="source-caption:2"/>
          <p:cNvSpPr txBox="1"/>
          <p:nvPr/>
        </p:nvSpPr>
        <p:spPr>
          <a:xfrm>
            <a:off x="6263640" y="3360420"/>
            <a:ext cx="5074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27D"/>
                </a:solidFill>
                <a:latin typeface="Avenir Next"/>
              </a:rPr>
              <a:t>Hagia Sophia · Arild Vågen · CC BY-SA 3.0</a:t>
            </a:r>
          </a:p>
        </p:txBody>
      </p:sp>
      <p:sp>
        <p:nvSpPr>
          <p:cNvPr id="11" name="photo-frame:3"/>
          <p:cNvSpPr/>
          <p:nvPr/>
        </p:nvSpPr>
        <p:spPr>
          <a:xfrm>
            <a:off x="640080" y="3954780"/>
            <a:ext cx="5257800" cy="2034540"/>
          </a:xfrm>
          <a:prstGeom prst="rect">
            <a:avLst/>
          </a:prstGeom>
          <a:solidFill>
            <a:srgbClr val="F3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hoto:scene-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5846" y="3954780"/>
            <a:ext cx="1066266" cy="1650492"/>
          </a:xfrm>
          <a:prstGeom prst="rect">
            <a:avLst/>
          </a:prstGeom>
        </p:spPr>
      </p:pic>
      <p:sp>
        <p:nvSpPr>
          <p:cNvPr id="13" name="source-caption:3"/>
          <p:cNvSpPr txBox="1"/>
          <p:nvPr/>
        </p:nvSpPr>
        <p:spPr>
          <a:xfrm>
            <a:off x="731519" y="5623560"/>
            <a:ext cx="5074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27D"/>
                </a:solidFill>
                <a:latin typeface="Avenir Next"/>
              </a:rPr>
              <a:t>Basilica Cistern · Diego Delso · CC BY-SA 4.0</a:t>
            </a:r>
          </a:p>
        </p:txBody>
      </p:sp>
      <p:sp>
        <p:nvSpPr>
          <p:cNvPr id="14" name="photo-frame:4"/>
          <p:cNvSpPr/>
          <p:nvPr/>
        </p:nvSpPr>
        <p:spPr>
          <a:xfrm>
            <a:off x="6172200" y="3954780"/>
            <a:ext cx="5257800" cy="2034540"/>
          </a:xfrm>
          <a:prstGeom prst="rect">
            <a:avLst/>
          </a:prstGeom>
          <a:solidFill>
            <a:srgbClr val="F3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hoto:scene-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0772" y="3954780"/>
            <a:ext cx="2200656" cy="1650492"/>
          </a:xfrm>
          <a:prstGeom prst="rect">
            <a:avLst/>
          </a:prstGeom>
        </p:spPr>
      </p:pic>
      <p:sp>
        <p:nvSpPr>
          <p:cNvPr id="16" name="source-caption:4"/>
          <p:cNvSpPr txBox="1"/>
          <p:nvPr/>
        </p:nvSpPr>
        <p:spPr>
          <a:xfrm>
            <a:off x="6263640" y="5623560"/>
            <a:ext cx="5074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27D"/>
                </a:solidFill>
                <a:latin typeface="Avenir Next"/>
              </a:rPr>
              <a:t>Topkapi Palace · Gryffindor · Public domain</a:t>
            </a:r>
          </a:p>
        </p:txBody>
      </p:sp>
      <p:sp>
        <p:nvSpPr>
          <p:cNvPr id="17" name="layout:photo_collage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ge-number:footer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27D"/>
                </a:solidFill>
                <a:latin typeface="Avenir Nex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2A3A"/>
                </a:solidFill>
                <a:latin typeface="Avenir Next"/>
              </a:rPr>
              <a:t>An editable route from Europe to Asia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51560" cy="73152"/>
          </a:xfrm>
          <a:prstGeom prst="rect">
            <a:avLst/>
          </a:prstGeom>
          <a:solidFill>
            <a:srgbClr val="D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28016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64727D"/>
                </a:solidFill>
                <a:latin typeface="Avenir Next"/>
              </a:rPr>
              <a:t>WGS84 route over a real OpenStreetMap base</a:t>
            </a:r>
          </a:p>
        </p:txBody>
      </p:sp>
      <p:pic>
        <p:nvPicPr>
          <p:cNvPr id="5" name="map:base-real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235" y="1600200"/>
            <a:ext cx="8401050" cy="4480560"/>
          </a:xfrm>
          <a:prstGeom prst="rect">
            <a:avLst/>
          </a:prstGeom>
        </p:spPr>
      </p:pic>
      <p:sp>
        <p:nvSpPr>
          <p:cNvPr id="6" name="map:label-europe"/>
          <p:cNvSpPr txBox="1"/>
          <p:nvPr/>
        </p:nvSpPr>
        <p:spPr>
          <a:xfrm>
            <a:off x="960119" y="17830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4727D"/>
                </a:solidFill>
                <a:latin typeface="Avenir Next"/>
              </a:rPr>
              <a:t>EUROPE</a:t>
            </a:r>
          </a:p>
        </p:txBody>
      </p:sp>
      <p:sp>
        <p:nvSpPr>
          <p:cNvPr id="7" name="map:label-asia"/>
          <p:cNvSpPr txBox="1"/>
          <p:nvPr/>
        </p:nvSpPr>
        <p:spPr>
          <a:xfrm>
            <a:off x="9372600" y="17830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4727D"/>
                </a:solidFill>
                <a:latin typeface="Avenir Next"/>
              </a:rPr>
              <a:t>ASIA</a:t>
            </a:r>
          </a:p>
        </p:txBody>
      </p:sp>
      <p:sp>
        <p:nvSpPr>
          <p:cNvPr id="8" name="map:label-bosphorus"/>
          <p:cNvSpPr txBox="1"/>
          <p:nvPr/>
        </p:nvSpPr>
        <p:spPr>
          <a:xfrm>
            <a:off x="6537960" y="17830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4727D"/>
                </a:solidFill>
                <a:latin typeface="Avenir Next"/>
              </a:rPr>
              <a:t>BOSPHORUS</a:t>
            </a:r>
          </a:p>
        </p:txBody>
      </p:sp>
      <p:sp>
        <p:nvSpPr>
          <p:cNvPr id="9" name="map:attribution"/>
          <p:cNvSpPr txBox="1"/>
          <p:nvPr/>
        </p:nvSpPr>
        <p:spPr>
          <a:xfrm>
            <a:off x="4069080" y="5824728"/>
            <a:ext cx="4023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27D"/>
                </a:solidFill>
                <a:latin typeface="Avenir Next"/>
              </a:rPr>
              <a:t>© OpenStreetMap contributors · ODbL 1.0</a:t>
            </a:r>
          </a:p>
        </p:txBody>
      </p:sp>
      <p:cxnSp>
        <p:nvCxnSpPr>
          <p:cNvPr id="10" name="map:route-1"/>
          <p:cNvCxnSpPr/>
          <p:nvPr/>
        </p:nvCxnSpPr>
        <p:spPr>
          <a:xfrm flipV="1">
            <a:off x="5692140" y="4390366"/>
            <a:ext cx="132130" cy="118124"/>
          </a:xfrm>
          <a:prstGeom prst="line">
            <a:avLst/>
          </a:prstGeom>
          <a:ln w="50800">
            <a:solidFill>
              <a:srgbClr val="D8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ap:route-2"/>
          <p:cNvCxnSpPr/>
          <p:nvPr/>
        </p:nvCxnSpPr>
        <p:spPr>
          <a:xfrm flipH="1" flipV="1">
            <a:off x="5462854" y="3816040"/>
            <a:ext cx="361416" cy="574326"/>
          </a:xfrm>
          <a:prstGeom prst="line">
            <a:avLst/>
          </a:prstGeom>
          <a:ln w="50800">
            <a:solidFill>
              <a:srgbClr val="D8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ap:route-3"/>
          <p:cNvCxnSpPr/>
          <p:nvPr/>
        </p:nvCxnSpPr>
        <p:spPr>
          <a:xfrm flipV="1">
            <a:off x="5462854" y="3771234"/>
            <a:ext cx="1601114" cy="44806"/>
          </a:xfrm>
          <a:prstGeom prst="line">
            <a:avLst/>
          </a:prstGeom>
          <a:ln w="50800">
            <a:solidFill>
              <a:srgbClr val="D8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ap:route-4"/>
          <p:cNvCxnSpPr/>
          <p:nvPr/>
        </p:nvCxnSpPr>
        <p:spPr>
          <a:xfrm>
            <a:off x="7063968" y="3771234"/>
            <a:ext cx="376961" cy="1458219"/>
          </a:xfrm>
          <a:prstGeom prst="line">
            <a:avLst/>
          </a:prstGeom>
          <a:ln w="50800">
            <a:solidFill>
              <a:srgbClr val="D8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map:landmark-1"/>
          <p:cNvSpPr/>
          <p:nvPr/>
        </p:nvSpPr>
        <p:spPr>
          <a:xfrm>
            <a:off x="5591556" y="4407906"/>
            <a:ext cx="201168" cy="201168"/>
          </a:xfrm>
          <a:prstGeom prst="ellipse">
            <a:avLst/>
          </a:prstGeom>
          <a:solidFill>
            <a:srgbClr val="D85A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map:callout-1"/>
          <p:cNvCxnSpPr/>
          <p:nvPr/>
        </p:nvCxnSpPr>
        <p:spPr>
          <a:xfrm flipH="1" flipV="1">
            <a:off x="2770632" y="2514600"/>
            <a:ext cx="2921508" cy="1993890"/>
          </a:xfrm>
          <a:prstGeom prst="line">
            <a:avLst/>
          </a:prstGeom>
          <a:ln w="12700">
            <a:solidFill>
              <a:srgbClr val="647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map:landmark-label-1"/>
          <p:cNvSpPr txBox="1"/>
          <p:nvPr/>
        </p:nvSpPr>
        <p:spPr>
          <a:xfrm>
            <a:off x="896112" y="2350008"/>
            <a:ext cx="1965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1. Hagia Sophia</a:t>
            </a:r>
          </a:p>
        </p:txBody>
      </p:sp>
      <p:sp>
        <p:nvSpPr>
          <p:cNvPr id="17" name="map:landmark-2"/>
          <p:cNvSpPr/>
          <p:nvPr/>
        </p:nvSpPr>
        <p:spPr>
          <a:xfrm>
            <a:off x="5723686" y="4289782"/>
            <a:ext cx="201168" cy="201168"/>
          </a:xfrm>
          <a:prstGeom prst="ellipse">
            <a:avLst/>
          </a:prstGeom>
          <a:solidFill>
            <a:srgbClr val="D85A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map:callout-2"/>
          <p:cNvCxnSpPr/>
          <p:nvPr/>
        </p:nvCxnSpPr>
        <p:spPr>
          <a:xfrm flipH="1" flipV="1">
            <a:off x="2770632" y="4091939"/>
            <a:ext cx="3053638" cy="298427"/>
          </a:xfrm>
          <a:prstGeom prst="line">
            <a:avLst/>
          </a:prstGeom>
          <a:ln w="12700">
            <a:solidFill>
              <a:srgbClr val="647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map:landmark-label-2"/>
          <p:cNvSpPr txBox="1"/>
          <p:nvPr/>
        </p:nvSpPr>
        <p:spPr>
          <a:xfrm>
            <a:off x="896112" y="3927348"/>
            <a:ext cx="1965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2. Topkapi Palace</a:t>
            </a:r>
          </a:p>
        </p:txBody>
      </p:sp>
      <p:sp>
        <p:nvSpPr>
          <p:cNvPr id="20" name="map:landmark-3"/>
          <p:cNvSpPr/>
          <p:nvPr/>
        </p:nvSpPr>
        <p:spPr>
          <a:xfrm>
            <a:off x="5362270" y="3715456"/>
            <a:ext cx="201168" cy="201168"/>
          </a:xfrm>
          <a:prstGeom prst="ellipse">
            <a:avLst/>
          </a:prstGeom>
          <a:solidFill>
            <a:srgbClr val="D85A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map:callout-3"/>
          <p:cNvCxnSpPr/>
          <p:nvPr/>
        </p:nvCxnSpPr>
        <p:spPr>
          <a:xfrm flipH="1">
            <a:off x="2770632" y="3816040"/>
            <a:ext cx="2692222" cy="1853239"/>
          </a:xfrm>
          <a:prstGeom prst="line">
            <a:avLst/>
          </a:prstGeom>
          <a:ln w="12700">
            <a:solidFill>
              <a:srgbClr val="647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map:landmark-label-3"/>
          <p:cNvSpPr txBox="1"/>
          <p:nvPr/>
        </p:nvSpPr>
        <p:spPr>
          <a:xfrm>
            <a:off x="896112" y="5504688"/>
            <a:ext cx="1965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3. Galata Tower</a:t>
            </a:r>
          </a:p>
        </p:txBody>
      </p:sp>
      <p:sp>
        <p:nvSpPr>
          <p:cNvPr id="23" name="map:landmark-4"/>
          <p:cNvSpPr/>
          <p:nvPr/>
        </p:nvSpPr>
        <p:spPr>
          <a:xfrm>
            <a:off x="6963384" y="3670650"/>
            <a:ext cx="201168" cy="201168"/>
          </a:xfrm>
          <a:prstGeom prst="ellipse">
            <a:avLst/>
          </a:prstGeom>
          <a:solidFill>
            <a:srgbClr val="D85A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map:callout-4"/>
          <p:cNvCxnSpPr/>
          <p:nvPr/>
        </p:nvCxnSpPr>
        <p:spPr>
          <a:xfrm flipV="1">
            <a:off x="7063968" y="2514600"/>
            <a:ext cx="2125751" cy="1256634"/>
          </a:xfrm>
          <a:prstGeom prst="line">
            <a:avLst/>
          </a:prstGeom>
          <a:ln w="12700">
            <a:solidFill>
              <a:srgbClr val="647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map:landmark-label-4"/>
          <p:cNvSpPr txBox="1"/>
          <p:nvPr/>
        </p:nvSpPr>
        <p:spPr>
          <a:xfrm>
            <a:off x="9189719" y="2350008"/>
            <a:ext cx="1965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4. Üsküdar</a:t>
            </a:r>
          </a:p>
        </p:txBody>
      </p:sp>
      <p:sp>
        <p:nvSpPr>
          <p:cNvPr id="26" name="map:landmark-5"/>
          <p:cNvSpPr/>
          <p:nvPr/>
        </p:nvSpPr>
        <p:spPr>
          <a:xfrm>
            <a:off x="7340345" y="5128869"/>
            <a:ext cx="201168" cy="201168"/>
          </a:xfrm>
          <a:prstGeom prst="ellipse">
            <a:avLst/>
          </a:prstGeom>
          <a:solidFill>
            <a:srgbClr val="D85A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map:callout-5"/>
          <p:cNvCxnSpPr/>
          <p:nvPr/>
        </p:nvCxnSpPr>
        <p:spPr>
          <a:xfrm>
            <a:off x="7440929" y="5229453"/>
            <a:ext cx="1748790" cy="439826"/>
          </a:xfrm>
          <a:prstGeom prst="line">
            <a:avLst/>
          </a:prstGeom>
          <a:ln w="12700">
            <a:solidFill>
              <a:srgbClr val="647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map:landmark-label-5"/>
          <p:cNvSpPr txBox="1"/>
          <p:nvPr/>
        </p:nvSpPr>
        <p:spPr>
          <a:xfrm>
            <a:off x="9189719" y="5504688"/>
            <a:ext cx="1965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5. Kadıköy</a:t>
            </a:r>
          </a:p>
        </p:txBody>
      </p:sp>
      <p:sp>
        <p:nvSpPr>
          <p:cNvPr id="29" name="layout:geo_route_map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age-number:footer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27D"/>
                </a:solidFill>
                <a:latin typeface="Avenir Nex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2A3A"/>
                </a:solidFill>
                <a:latin typeface="Avenir Next"/>
              </a:rPr>
              <a:t>A city read through six visual signals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51560" cy="73152"/>
          </a:xfrm>
          <a:prstGeom prst="rect">
            <a:avLst/>
          </a:prstGeom>
          <a:solidFill>
            <a:srgbClr val="D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28016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64727D"/>
                </a:solidFill>
                <a:latin typeface="Avenir Next"/>
              </a:rPr>
              <a:t>Each icon is parsed from safe SVG into native PowerPoint vectors</a:t>
            </a:r>
          </a:p>
        </p:txBody>
      </p:sp>
      <p:sp>
        <p:nvSpPr>
          <p:cNvPr id="5" name="card:icon-1"/>
          <p:cNvSpPr/>
          <p:nvPr/>
        </p:nvSpPr>
        <p:spPr>
          <a:xfrm>
            <a:off x="621792" y="1627632"/>
            <a:ext cx="3410711" cy="1947672"/>
          </a:xfrm>
          <a:prstGeom prst="roundRect">
            <a:avLst/>
          </a:prstGeom>
          <a:solidFill>
            <a:srgbClr val="F3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ector:1:1"/>
          <p:cNvSpPr/>
          <p:nvPr/>
        </p:nvSpPr>
        <p:spPr>
          <a:xfrm>
            <a:off x="950976" y="2116836"/>
            <a:ext cx="329184" cy="246888"/>
          </a:xfrm>
          <a:prstGeom prst="rect">
            <a:avLst/>
          </a:prstGeom>
          <a:solidFill>
            <a:srgbClr val="D85A3A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vector:1:2"/>
          <p:cNvCxnSpPr/>
          <p:nvPr/>
        </p:nvCxnSpPr>
        <p:spPr>
          <a:xfrm flipV="1">
            <a:off x="909828" y="1931669"/>
            <a:ext cx="205740" cy="185167"/>
          </a:xfrm>
          <a:prstGeom prst="line">
            <a:avLst/>
          </a:prstGeom>
          <a:ln w="12700">
            <a:solidFill>
              <a:srgbClr val="17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vector:1:3"/>
          <p:cNvCxnSpPr/>
          <p:nvPr/>
        </p:nvCxnSpPr>
        <p:spPr>
          <a:xfrm>
            <a:off x="1115568" y="1931669"/>
            <a:ext cx="205740" cy="185167"/>
          </a:xfrm>
          <a:prstGeom prst="line">
            <a:avLst/>
          </a:prstGeom>
          <a:ln w="12700">
            <a:solidFill>
              <a:srgbClr val="17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:icon-1"/>
          <p:cNvSpPr txBox="1"/>
          <p:nvPr/>
        </p:nvSpPr>
        <p:spPr>
          <a:xfrm>
            <a:off x="1609344" y="1810512"/>
            <a:ext cx="2267711" cy="1627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Landmarks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Hagia Sophia, Blue Mosque, Topkapi Palace</a:t>
            </a:r>
          </a:p>
        </p:txBody>
      </p:sp>
      <p:sp>
        <p:nvSpPr>
          <p:cNvPr id="10" name="card:icon-2"/>
          <p:cNvSpPr/>
          <p:nvPr/>
        </p:nvSpPr>
        <p:spPr>
          <a:xfrm>
            <a:off x="4279392" y="1627632"/>
            <a:ext cx="3410711" cy="1947672"/>
          </a:xfrm>
          <a:prstGeom prst="roundRect">
            <a:avLst/>
          </a:prstGeom>
          <a:solidFill>
            <a:srgbClr val="F3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vector:2:1"/>
          <p:cNvSpPr/>
          <p:nvPr/>
        </p:nvSpPr>
        <p:spPr>
          <a:xfrm>
            <a:off x="4567427" y="2116836"/>
            <a:ext cx="411479" cy="164592"/>
          </a:xfrm>
          <a:prstGeom prst="rect">
            <a:avLst/>
          </a:prstGeom>
          <a:solidFill>
            <a:srgbClr val="D85A3A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vector:2:2"/>
          <p:cNvCxnSpPr/>
          <p:nvPr/>
        </p:nvCxnSpPr>
        <p:spPr>
          <a:xfrm>
            <a:off x="4526279" y="2302002"/>
            <a:ext cx="493776" cy="0"/>
          </a:xfrm>
          <a:prstGeom prst="line">
            <a:avLst/>
          </a:prstGeom>
          <a:ln w="12700">
            <a:solidFill>
              <a:srgbClr val="17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vector:2:3"/>
          <p:cNvSpPr/>
          <p:nvPr/>
        </p:nvSpPr>
        <p:spPr>
          <a:xfrm>
            <a:off x="4690871" y="2013966"/>
            <a:ext cx="185166" cy="102869"/>
          </a:xfrm>
          <a:prstGeom prst="rect">
            <a:avLst/>
          </a:prstGeom>
          <a:solidFill>
            <a:srgbClr val="172A3A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icon-2"/>
          <p:cNvSpPr txBox="1"/>
          <p:nvPr/>
        </p:nvSpPr>
        <p:spPr>
          <a:xfrm>
            <a:off x="5266944" y="1810512"/>
            <a:ext cx="2267711" cy="1627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Bosphorus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The strait links the city’s two shores</a:t>
            </a:r>
          </a:p>
        </p:txBody>
      </p:sp>
      <p:sp>
        <p:nvSpPr>
          <p:cNvPr id="15" name="card:icon-3"/>
          <p:cNvSpPr/>
          <p:nvPr/>
        </p:nvSpPr>
        <p:spPr>
          <a:xfrm>
            <a:off x="7936992" y="1627632"/>
            <a:ext cx="3410711" cy="1947672"/>
          </a:xfrm>
          <a:prstGeom prst="roundRect">
            <a:avLst/>
          </a:prstGeom>
          <a:solidFill>
            <a:srgbClr val="F3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ector:3:1"/>
          <p:cNvSpPr/>
          <p:nvPr/>
        </p:nvSpPr>
        <p:spPr>
          <a:xfrm>
            <a:off x="8245602" y="1972818"/>
            <a:ext cx="370332" cy="370332"/>
          </a:xfrm>
          <a:prstGeom prst="ellipse">
            <a:avLst/>
          </a:prstGeom>
          <a:noFill/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vector:3:2"/>
          <p:cNvCxnSpPr/>
          <p:nvPr/>
        </p:nvCxnSpPr>
        <p:spPr>
          <a:xfrm>
            <a:off x="8183879" y="1952243"/>
            <a:ext cx="0" cy="432055"/>
          </a:xfrm>
          <a:prstGeom prst="line">
            <a:avLst/>
          </a:prstGeom>
          <a:ln w="12700">
            <a:solidFill>
              <a:srgbClr val="17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vector:3:3"/>
          <p:cNvCxnSpPr/>
          <p:nvPr/>
        </p:nvCxnSpPr>
        <p:spPr>
          <a:xfrm>
            <a:off x="8677656" y="1952243"/>
            <a:ext cx="0" cy="432055"/>
          </a:xfrm>
          <a:prstGeom prst="line">
            <a:avLst/>
          </a:prstGeom>
          <a:ln w="12700">
            <a:solidFill>
              <a:srgbClr val="17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:icon-3"/>
          <p:cNvSpPr txBox="1"/>
          <p:nvPr/>
        </p:nvSpPr>
        <p:spPr>
          <a:xfrm>
            <a:off x="8924544" y="1810512"/>
            <a:ext cx="2267711" cy="1627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Tradition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Centuries-old culture remains visible</a:t>
            </a:r>
          </a:p>
        </p:txBody>
      </p:sp>
      <p:sp>
        <p:nvSpPr>
          <p:cNvPr id="20" name="card:icon-4"/>
          <p:cNvSpPr/>
          <p:nvPr/>
        </p:nvSpPr>
        <p:spPr>
          <a:xfrm>
            <a:off x="621792" y="3776472"/>
            <a:ext cx="3410711" cy="1947672"/>
          </a:xfrm>
          <a:prstGeom prst="roundRect">
            <a:avLst/>
          </a:prstGeom>
          <a:solidFill>
            <a:srgbClr val="F3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ector:4:1"/>
          <p:cNvSpPr/>
          <p:nvPr/>
        </p:nvSpPr>
        <p:spPr>
          <a:xfrm>
            <a:off x="889254" y="4183379"/>
            <a:ext cx="452628" cy="329184"/>
          </a:xfrm>
          <a:prstGeom prst="rect">
            <a:avLst/>
          </a:prstGeom>
          <a:noFill/>
          <a:ln>
            <a:solidFill>
              <a:srgbClr val="17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ector:4:2"/>
          <p:cNvSpPr/>
          <p:nvPr/>
        </p:nvSpPr>
        <p:spPr>
          <a:xfrm>
            <a:off x="1012698" y="4245102"/>
            <a:ext cx="205739" cy="205739"/>
          </a:xfrm>
          <a:prstGeom prst="ellipse">
            <a:avLst/>
          </a:prstGeom>
          <a:solidFill>
            <a:srgbClr val="D85A3A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ector:4:3"/>
          <p:cNvSpPr/>
          <p:nvPr/>
        </p:nvSpPr>
        <p:spPr>
          <a:xfrm>
            <a:off x="992124" y="4121657"/>
            <a:ext cx="144018" cy="82296"/>
          </a:xfrm>
          <a:prstGeom prst="rect">
            <a:avLst/>
          </a:prstGeom>
          <a:solidFill>
            <a:srgbClr val="172A3A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icon-4"/>
          <p:cNvSpPr txBox="1"/>
          <p:nvPr/>
        </p:nvSpPr>
        <p:spPr>
          <a:xfrm>
            <a:off x="1609344" y="3959352"/>
            <a:ext cx="2267711" cy="1627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Multicultural heritage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Landmarks reflect a layered past</a:t>
            </a:r>
          </a:p>
        </p:txBody>
      </p:sp>
      <p:sp>
        <p:nvSpPr>
          <p:cNvPr id="25" name="card:icon-5"/>
          <p:cNvSpPr/>
          <p:nvPr/>
        </p:nvSpPr>
        <p:spPr>
          <a:xfrm>
            <a:off x="4279392" y="3776472"/>
            <a:ext cx="3410711" cy="1947672"/>
          </a:xfrm>
          <a:prstGeom prst="roundRect">
            <a:avLst/>
          </a:prstGeom>
          <a:solidFill>
            <a:srgbClr val="F3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ector:5:1"/>
          <p:cNvSpPr/>
          <p:nvPr/>
        </p:nvSpPr>
        <p:spPr>
          <a:xfrm>
            <a:off x="4711446" y="4039361"/>
            <a:ext cx="123444" cy="123444"/>
          </a:xfrm>
          <a:prstGeom prst="ellipse">
            <a:avLst/>
          </a:prstGeom>
          <a:solidFill>
            <a:srgbClr val="D85A3A"/>
          </a:solidFill>
          <a:ln>
            <a:solidFill>
              <a:srgbClr val="D8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vector:5:2"/>
          <p:cNvCxnSpPr/>
          <p:nvPr/>
        </p:nvCxnSpPr>
        <p:spPr>
          <a:xfrm flipH="1">
            <a:off x="4752594" y="4162805"/>
            <a:ext cx="20574" cy="205741"/>
          </a:xfrm>
          <a:prstGeom prst="line">
            <a:avLst/>
          </a:prstGeom>
          <a:ln w="12700">
            <a:solidFill>
              <a:srgbClr val="17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vector:5:3"/>
          <p:cNvCxnSpPr/>
          <p:nvPr/>
        </p:nvCxnSpPr>
        <p:spPr>
          <a:xfrm flipH="1">
            <a:off x="4629149" y="4255389"/>
            <a:ext cx="123445" cy="92583"/>
          </a:xfrm>
          <a:prstGeom prst="line">
            <a:avLst/>
          </a:prstGeom>
          <a:ln w="12700">
            <a:solidFill>
              <a:srgbClr val="17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vector:5:4"/>
          <p:cNvCxnSpPr/>
          <p:nvPr/>
        </p:nvCxnSpPr>
        <p:spPr>
          <a:xfrm flipH="1">
            <a:off x="4629149" y="4368546"/>
            <a:ext cx="123445" cy="164592"/>
          </a:xfrm>
          <a:prstGeom prst="line">
            <a:avLst/>
          </a:prstGeom>
          <a:ln w="12700">
            <a:solidFill>
              <a:srgbClr val="17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vector:5:5"/>
          <p:cNvCxnSpPr/>
          <p:nvPr/>
        </p:nvCxnSpPr>
        <p:spPr>
          <a:xfrm>
            <a:off x="4752594" y="4368546"/>
            <a:ext cx="164592" cy="144018"/>
          </a:xfrm>
          <a:prstGeom prst="line">
            <a:avLst/>
          </a:prstGeom>
          <a:ln w="12700">
            <a:solidFill>
              <a:srgbClr val="17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:icon-5"/>
          <p:cNvSpPr txBox="1"/>
          <p:nvPr/>
        </p:nvSpPr>
        <p:spPr>
          <a:xfrm>
            <a:off x="5266944" y="3959352"/>
            <a:ext cx="2267711" cy="1627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Living city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Modern life meets historic fabric</a:t>
            </a:r>
          </a:p>
        </p:txBody>
      </p:sp>
      <p:sp>
        <p:nvSpPr>
          <p:cNvPr id="32" name="card:icon-6"/>
          <p:cNvSpPr/>
          <p:nvPr/>
        </p:nvSpPr>
        <p:spPr>
          <a:xfrm>
            <a:off x="7936992" y="3776472"/>
            <a:ext cx="3410711" cy="1947672"/>
          </a:xfrm>
          <a:prstGeom prst="roundRect">
            <a:avLst/>
          </a:prstGeom>
          <a:solidFill>
            <a:srgbClr val="F3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vector:6:1"/>
          <p:cNvCxnSpPr/>
          <p:nvPr/>
        </p:nvCxnSpPr>
        <p:spPr>
          <a:xfrm>
            <a:off x="8183879" y="4471416"/>
            <a:ext cx="493777" cy="0"/>
          </a:xfrm>
          <a:prstGeom prst="line">
            <a:avLst/>
          </a:prstGeom>
          <a:ln w="12700">
            <a:solidFill>
              <a:srgbClr val="17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vector:6:2"/>
          <p:cNvCxnSpPr/>
          <p:nvPr/>
        </p:nvCxnSpPr>
        <p:spPr>
          <a:xfrm>
            <a:off x="8245602" y="4162805"/>
            <a:ext cx="0" cy="329185"/>
          </a:xfrm>
          <a:prstGeom prst="line">
            <a:avLst/>
          </a:prstGeom>
          <a:ln w="12700">
            <a:solidFill>
              <a:srgbClr val="D8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vector:6:3"/>
          <p:cNvCxnSpPr/>
          <p:nvPr/>
        </p:nvCxnSpPr>
        <p:spPr>
          <a:xfrm>
            <a:off x="8615934" y="4162805"/>
            <a:ext cx="0" cy="329185"/>
          </a:xfrm>
          <a:prstGeom prst="line">
            <a:avLst/>
          </a:prstGeom>
          <a:ln w="12700">
            <a:solidFill>
              <a:srgbClr val="D8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vector:6:4"/>
          <p:cNvCxnSpPr/>
          <p:nvPr/>
        </p:nvCxnSpPr>
        <p:spPr>
          <a:xfrm>
            <a:off x="8245602" y="4183379"/>
            <a:ext cx="370332" cy="0"/>
          </a:xfrm>
          <a:prstGeom prst="line">
            <a:avLst/>
          </a:prstGeom>
          <a:ln w="12700">
            <a:solidFill>
              <a:srgbClr val="17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:icon-6"/>
          <p:cNvSpPr txBox="1"/>
          <p:nvPr/>
        </p:nvSpPr>
        <p:spPr>
          <a:xfrm>
            <a:off x="8924544" y="3959352"/>
            <a:ext cx="2267711" cy="1627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A3A"/>
                </a:solidFill>
                <a:latin typeface="Avenir Next"/>
              </a:rPr>
              <a:t>East × West</a:t>
            </a:r>
          </a:p>
          <a:p>
            <a:r>
              <a:rPr sz="1800" b="0">
                <a:solidFill>
                  <a:srgbClr val="172A3A"/>
                </a:solidFill>
                <a:latin typeface="Avenir Next"/>
              </a:rPr>
              <a:t>A vital civilizational connection</a:t>
            </a:r>
          </a:p>
        </p:txBody>
      </p:sp>
      <p:sp>
        <p:nvSpPr>
          <p:cNvPr id="38" name="layout:icon_facts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age-number:footer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27D"/>
                </a:solidFill>
                <a:latin typeface="Avenir Nex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hoto:quote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3891"/>
            <a:ext cx="5623560" cy="4030218"/>
          </a:xfrm>
          <a:prstGeom prst="rect">
            <a:avLst/>
          </a:prstGeom>
        </p:spPr>
      </p:pic>
      <p:sp>
        <p:nvSpPr>
          <p:cNvPr id="3" name="text:quote"/>
          <p:cNvSpPr txBox="1"/>
          <p:nvPr/>
        </p:nvSpPr>
        <p:spPr>
          <a:xfrm>
            <a:off x="6172200" y="1371600"/>
            <a:ext cx="516636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2A3A"/>
                </a:solidFill>
                <a:latin typeface="Avenir Next"/>
              </a:rPr>
              <a:t>“A vital link between Western and Eastern civilizations, blending modernity with centuries-old traditions.”</a:t>
            </a:r>
          </a:p>
        </p:txBody>
      </p:sp>
      <p:sp>
        <p:nvSpPr>
          <p:cNvPr id="4" name="text:attribution"/>
          <p:cNvSpPr txBox="1"/>
          <p:nvPr/>
        </p:nvSpPr>
        <p:spPr>
          <a:xfrm>
            <a:off x="6217920" y="4892040"/>
            <a:ext cx="4754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64727D"/>
                </a:solidFill>
                <a:latin typeface="Avenir Next"/>
              </a:rPr>
              <a:t>Approved Istanbul source material</a:t>
            </a:r>
          </a:p>
        </p:txBody>
      </p:sp>
      <p:sp>
        <p:nvSpPr>
          <p:cNvPr id="5" name="layout:quote_photo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ge-number:footer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27D"/>
                </a:solidFill>
                <a:latin typeface="Avenir Next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