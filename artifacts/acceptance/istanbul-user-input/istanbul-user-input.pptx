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:cov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panel:hero"/>
          <p:cNvSpPr/>
          <p:nvPr/>
        </p:nvSpPr>
        <p:spPr>
          <a:xfrm>
            <a:off x="594360" y="4160520"/>
            <a:ext cx="6583680" cy="1965960"/>
          </a:xfrm>
          <a:prstGeom prst="rect">
            <a:avLst/>
          </a:prstGeom>
          <a:solidFill>
            <a:srgbClr val="17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:hero-title"/>
          <p:cNvSpPr txBox="1"/>
          <p:nvPr/>
        </p:nvSpPr>
        <p:spPr>
          <a:xfrm>
            <a:off x="914400" y="4407408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venir Next"/>
              </a:rPr>
              <a:t>穷游伊斯坦布尔 · 躲开价格刺客</a:t>
            </a:r>
          </a:p>
        </p:txBody>
      </p:sp>
      <p:sp>
        <p:nvSpPr>
          <p:cNvPr id="5" name="text:hero-subtitle"/>
          <p:cNvSpPr txBox="1"/>
          <p:nvPr/>
        </p:nvSpPr>
        <p:spPr>
          <a:xfrm>
            <a:off x="932688" y="5285232"/>
            <a:ext cx="5760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venir Next"/>
              </a:rPr>
              <a:t>两天地图攻略｜住哪里｜吃什么｜在哪里拍大片</a:t>
            </a:r>
          </a:p>
        </p:txBody>
      </p:sp>
      <p:sp>
        <p:nvSpPr>
          <p:cNvPr id="6" name="layout:hero_photo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落地先做对 4 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原文经验保留；签证与价格单独标记时效风险</a:t>
            </a:r>
          </a:p>
        </p:txBody>
      </p:sp>
      <p:sp>
        <p:nvSpPr>
          <p:cNvPr id="5" name="timeline:event-1"/>
          <p:cNvSpPr/>
          <p:nvPr/>
        </p:nvSpPr>
        <p:spPr>
          <a:xfrm>
            <a:off x="658368" y="1874519"/>
            <a:ext cx="5230368" cy="195224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入境 · 先办电子签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中国普通护照并非免签；出发前查 evisa.gov.tr，抵达后仍需到 Passport Control 接受入境审查</a:t>
            </a:r>
          </a:p>
        </p:txBody>
      </p:sp>
      <p:sp>
        <p:nvSpPr>
          <p:cNvPr id="6" name="timeline:event-2"/>
          <p:cNvSpPr/>
          <p:nvPr/>
        </p:nvSpPr>
        <p:spPr>
          <a:xfrm>
            <a:off x="6309359" y="1874519"/>
            <a:ext cx="5230368" cy="195224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现金 · 9号门附近 ATM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原文建议找蓝色 İş Bankası，并称汇率较好、免本地手续费</a:t>
            </a:r>
          </a:p>
        </p:txBody>
      </p:sp>
      <p:sp>
        <p:nvSpPr>
          <p:cNvPr id="7" name="timeline:event-3"/>
          <p:cNvSpPr/>
          <p:nvPr/>
        </p:nvSpPr>
        <p:spPr>
          <a:xfrm>
            <a:off x="658368" y="3954779"/>
            <a:ext cx="5230368" cy="195224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交通卡 · 负二楼购卡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原文：顺 METRO 标志，蓝色机器制卡费 165 里拉；价格需当日复核</a:t>
            </a:r>
          </a:p>
        </p:txBody>
      </p:sp>
      <p:sp>
        <p:nvSpPr>
          <p:cNvPr id="8" name="timeline:event-4"/>
          <p:cNvSpPr/>
          <p:nvPr/>
        </p:nvSpPr>
        <p:spPr>
          <a:xfrm>
            <a:off x="6309359" y="3954779"/>
            <a:ext cx="5230368" cy="195224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路线 · M11 → M2 → T1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可用原文所述 Yandex Metro 查路；Gayrettepe 换 M2，Vezneciler 出站步行至 Laleli 换 T1</a:t>
            </a:r>
          </a:p>
        </p:txBody>
      </p:sp>
      <p:sp>
        <p:nvSpPr>
          <p:cNvPr id="9" name="layout:timelin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机场到老城：便宜与省力二选一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价格按原文呈现，不作为实时承诺</a:t>
            </a:r>
          </a:p>
        </p:txBody>
      </p:sp>
      <p:sp>
        <p:nvSpPr>
          <p:cNvPr id="5" name="text:metric"/>
          <p:cNvSpPr txBox="1"/>
          <p:nvPr/>
        </p:nvSpPr>
        <p:spPr>
          <a:xfrm>
            <a:off x="777240" y="1828800"/>
            <a:ext cx="3657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D85A3A"/>
                </a:solidFill>
                <a:latin typeface="Avenir Next"/>
              </a:rPr>
              <a:t>3段轨交</a:t>
            </a:r>
          </a:p>
        </p:txBody>
      </p:sp>
      <p:sp>
        <p:nvSpPr>
          <p:cNvPr id="6" name="text:data-body"/>
          <p:cNvSpPr txBox="1"/>
          <p:nvPr/>
        </p:nvSpPr>
        <p:spPr>
          <a:xfrm>
            <a:off x="822960" y="3154680"/>
            <a:ext cx="3749039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72A3A"/>
                </a:solidFill>
                <a:latin typeface="Avenir Next"/>
              </a:rPr>
              <a:t>公共交通适合行李少、脚力好的人；携大件行李、老人儿童或行动不便者，应优先减少换乘。不要把性别作为出行能力判断标准。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655064"/>
            <a:ext cx="6729984" cy="4270248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783080"/>
            <a:ext cx="64008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A3A"/>
                </a:solidFill>
                <a:latin typeface="Avenir Next"/>
              </a:defRPr>
            </a:pPr>
            <a:r>
              <a:rPr sz="2000" b="0">
                <a:solidFill>
                  <a:srgbClr val="172A3A"/>
                </a:solidFill>
                <a:latin typeface="Avenir Next"/>
              </a:rPr>
              <a:t>公共交通：M11 → M2 → 步行 → T1；Gayrettepe 不是 IST 后的下一站</a:t>
            </a:r>
          </a:p>
          <a:p>
            <a:pPr>
              <a:spcAft>
                <a:spcPts val="1200"/>
              </a:spcAft>
              <a:defRPr sz="2000">
                <a:solidFill>
                  <a:srgbClr val="172A3A"/>
                </a:solidFill>
                <a:latin typeface="Avenir Next"/>
              </a:defRPr>
            </a:pPr>
            <a:r>
              <a:rPr sz="2000" b="0">
                <a:solidFill>
                  <a:srgbClr val="172A3A"/>
                </a:solidFill>
                <a:latin typeface="Avenir Next"/>
              </a:rPr>
              <a:t>原文称 Uber 到蓝色清真寺约 4500 里拉；下单前看实时价</a:t>
            </a:r>
          </a:p>
          <a:p>
            <a:pPr>
              <a:spcAft>
                <a:spcPts val="1200"/>
              </a:spcAft>
              <a:defRPr sz="2000">
                <a:solidFill>
                  <a:srgbClr val="172A3A"/>
                </a:solidFill>
                <a:latin typeface="Avenir Next"/>
              </a:defRPr>
            </a:pPr>
            <a:r>
              <a:rPr sz="2000" b="0">
                <a:solidFill>
                  <a:srgbClr val="172A3A"/>
                </a:solidFill>
                <a:latin typeface="Avenir Next"/>
              </a:rPr>
              <a:t>Uber 的价值是路线记录与应用内支付，不保证比出租车便宜</a:t>
            </a:r>
          </a:p>
          <a:p>
            <a:pPr>
              <a:spcAft>
                <a:spcPts val="1200"/>
              </a:spcAft>
              <a:defRPr sz="2000">
                <a:solidFill>
                  <a:srgbClr val="172A3A"/>
                </a:solidFill>
                <a:latin typeface="Avenir Next"/>
              </a:defRPr>
            </a:pPr>
            <a:r>
              <a:rPr sz="2000" b="0">
                <a:solidFill>
                  <a:srgbClr val="172A3A"/>
                </a:solidFill>
                <a:latin typeface="Avenir Next"/>
              </a:rPr>
              <a:t>ATM 位置、手续费、交通卡价格及运营时间均须抵达前复核</a:t>
            </a:r>
          </a:p>
        </p:txBody>
      </p:sp>
      <p:sp>
        <p:nvSpPr>
          <p:cNvPr id="9" name="layout:data_story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D1 欧洲区 · 原文 9 站地图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在不删原文点位的前提下重排：老城步行 → 金角湾/巴拉特 → 日落轮渡</a:t>
            </a:r>
          </a:p>
        </p:txBody>
      </p:sp>
      <p:pic>
        <p:nvPicPr>
          <p:cNvPr id="5" name="map:base-rea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861" y="1600200"/>
            <a:ext cx="8553796" cy="4480560"/>
          </a:xfrm>
          <a:prstGeom prst="rect">
            <a:avLst/>
          </a:prstGeom>
        </p:spPr>
      </p:pic>
      <p:sp>
        <p:nvSpPr>
          <p:cNvPr id="6" name="map:label-europe"/>
          <p:cNvSpPr txBox="1"/>
          <p:nvPr/>
        </p:nvSpPr>
        <p:spPr>
          <a:xfrm>
            <a:off x="960119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27D"/>
                </a:solidFill>
                <a:latin typeface="Avenir Next"/>
              </a:rPr>
              <a:t>EUROPE</a:t>
            </a:r>
          </a:p>
        </p:txBody>
      </p:sp>
      <p:sp>
        <p:nvSpPr>
          <p:cNvPr id="7" name="map:label-asia"/>
          <p:cNvSpPr txBox="1"/>
          <p:nvPr/>
        </p:nvSpPr>
        <p:spPr>
          <a:xfrm>
            <a:off x="9372600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27D"/>
                </a:solidFill>
                <a:latin typeface="Avenir Next"/>
              </a:rPr>
              <a:t>ASIA</a:t>
            </a:r>
          </a:p>
        </p:txBody>
      </p:sp>
      <p:sp>
        <p:nvSpPr>
          <p:cNvPr id="8" name="map:label-bosphorus"/>
          <p:cNvSpPr txBox="1"/>
          <p:nvPr/>
        </p:nvSpPr>
        <p:spPr>
          <a:xfrm>
            <a:off x="6537960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27D"/>
                </a:solidFill>
                <a:latin typeface="Avenir Next"/>
              </a:rPr>
              <a:t>BOSPHORUS</a:t>
            </a:r>
          </a:p>
        </p:txBody>
      </p:sp>
      <p:sp>
        <p:nvSpPr>
          <p:cNvPr id="9" name="map:attribution"/>
          <p:cNvSpPr txBox="1"/>
          <p:nvPr/>
        </p:nvSpPr>
        <p:spPr>
          <a:xfrm>
            <a:off x="4069080" y="5824728"/>
            <a:ext cx="402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27D"/>
                </a:solidFill>
                <a:latin typeface="Avenir Next"/>
              </a:rPr>
              <a:t>© OpenStreetMap contributors · ODbL 1.0</a:t>
            </a:r>
          </a:p>
        </p:txBody>
      </p:sp>
      <p:cxnSp>
        <p:nvCxnSpPr>
          <p:cNvPr id="10" name="map:route-1"/>
          <p:cNvCxnSpPr/>
          <p:nvPr/>
        </p:nvCxnSpPr>
        <p:spPr>
          <a:xfrm flipH="1" flipV="1">
            <a:off x="6609283" y="4885944"/>
            <a:ext cx="202082" cy="119481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ap:route-2"/>
          <p:cNvCxnSpPr/>
          <p:nvPr/>
        </p:nvCxnSpPr>
        <p:spPr>
          <a:xfrm flipV="1">
            <a:off x="6609283" y="4069486"/>
            <a:ext cx="1367942" cy="816458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ap:route-3"/>
          <p:cNvCxnSpPr/>
          <p:nvPr/>
        </p:nvCxnSpPr>
        <p:spPr>
          <a:xfrm flipH="1">
            <a:off x="5536691" y="4069486"/>
            <a:ext cx="2440534" cy="667106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ap:route-4"/>
          <p:cNvCxnSpPr/>
          <p:nvPr/>
        </p:nvCxnSpPr>
        <p:spPr>
          <a:xfrm flipH="1" flipV="1">
            <a:off x="4992623" y="4517542"/>
            <a:ext cx="544068" cy="219050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ap:route-5"/>
          <p:cNvCxnSpPr/>
          <p:nvPr/>
        </p:nvCxnSpPr>
        <p:spPr>
          <a:xfrm flipH="1" flipV="1">
            <a:off x="4339742" y="3969918"/>
            <a:ext cx="652881" cy="547624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ap:route-6"/>
          <p:cNvCxnSpPr/>
          <p:nvPr/>
        </p:nvCxnSpPr>
        <p:spPr>
          <a:xfrm flipV="1">
            <a:off x="4339742" y="3571646"/>
            <a:ext cx="1430121" cy="398272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ap:route-7"/>
          <p:cNvCxnSpPr/>
          <p:nvPr/>
        </p:nvCxnSpPr>
        <p:spPr>
          <a:xfrm flipH="1" flipV="1">
            <a:off x="2039112" y="2645664"/>
            <a:ext cx="3730751" cy="925982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ap:route-8"/>
          <p:cNvCxnSpPr/>
          <p:nvPr/>
        </p:nvCxnSpPr>
        <p:spPr>
          <a:xfrm>
            <a:off x="2039112" y="2645664"/>
            <a:ext cx="3388766" cy="1224686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map:landmark-1"/>
          <p:cNvSpPr/>
          <p:nvPr/>
        </p:nvSpPr>
        <p:spPr>
          <a:xfrm>
            <a:off x="6710781" y="4904841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map:callout-1"/>
          <p:cNvCxnSpPr/>
          <p:nvPr/>
        </p:nvCxnSpPr>
        <p:spPr>
          <a:xfrm flipH="1" flipV="1">
            <a:off x="2770632" y="2514600"/>
            <a:ext cx="4040733" cy="2490825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map:landmark-label-1"/>
          <p:cNvSpPr txBox="1"/>
          <p:nvPr/>
        </p:nvSpPr>
        <p:spPr>
          <a:xfrm>
            <a:off x="896112" y="235000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1. Seven Hills</a:t>
            </a:r>
          </a:p>
        </p:txBody>
      </p:sp>
      <p:sp>
        <p:nvSpPr>
          <p:cNvPr id="21" name="map:landmark-2"/>
          <p:cNvSpPr/>
          <p:nvPr/>
        </p:nvSpPr>
        <p:spPr>
          <a:xfrm>
            <a:off x="6508699" y="4785360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map:callout-2"/>
          <p:cNvCxnSpPr/>
          <p:nvPr/>
        </p:nvCxnSpPr>
        <p:spPr>
          <a:xfrm flipH="1" flipV="1">
            <a:off x="2770632" y="2908935"/>
            <a:ext cx="3838651" cy="1977009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map:landmark-label-2"/>
          <p:cNvSpPr txBox="1"/>
          <p:nvPr/>
        </p:nvSpPr>
        <p:spPr>
          <a:xfrm>
            <a:off x="896112" y="2744343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2. 蓝色清真寺 / Hagia Sophia</a:t>
            </a:r>
          </a:p>
        </p:txBody>
      </p:sp>
      <p:sp>
        <p:nvSpPr>
          <p:cNvPr id="24" name="map:landmark-3"/>
          <p:cNvSpPr/>
          <p:nvPr/>
        </p:nvSpPr>
        <p:spPr>
          <a:xfrm>
            <a:off x="7876641" y="3968902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map:callout-3"/>
          <p:cNvCxnSpPr/>
          <p:nvPr/>
        </p:nvCxnSpPr>
        <p:spPr>
          <a:xfrm flipH="1" flipV="1">
            <a:off x="2770632" y="3303270"/>
            <a:ext cx="5206593" cy="766216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map:landmark-label-3"/>
          <p:cNvSpPr txBox="1"/>
          <p:nvPr/>
        </p:nvSpPr>
        <p:spPr>
          <a:xfrm>
            <a:off x="896112" y="313867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3. Sarayburnu Parkı</a:t>
            </a:r>
          </a:p>
        </p:txBody>
      </p:sp>
      <p:sp>
        <p:nvSpPr>
          <p:cNvPr id="27" name="map:landmark-4"/>
          <p:cNvSpPr/>
          <p:nvPr/>
        </p:nvSpPr>
        <p:spPr>
          <a:xfrm>
            <a:off x="5436107" y="4636007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map:callout-4"/>
          <p:cNvCxnSpPr/>
          <p:nvPr/>
        </p:nvCxnSpPr>
        <p:spPr>
          <a:xfrm flipH="1" flipV="1">
            <a:off x="2770632" y="3697605"/>
            <a:ext cx="2766059" cy="1038987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map:landmark-label-4"/>
          <p:cNvSpPr txBox="1"/>
          <p:nvPr/>
        </p:nvSpPr>
        <p:spPr>
          <a:xfrm>
            <a:off x="896112" y="3533013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4. Çemberlitaş Hammam</a:t>
            </a:r>
          </a:p>
        </p:txBody>
      </p:sp>
      <p:sp>
        <p:nvSpPr>
          <p:cNvPr id="30" name="map:landmark-5"/>
          <p:cNvSpPr/>
          <p:nvPr/>
        </p:nvSpPr>
        <p:spPr>
          <a:xfrm>
            <a:off x="4892039" y="4416958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map:callout-5"/>
          <p:cNvCxnSpPr/>
          <p:nvPr/>
        </p:nvCxnSpPr>
        <p:spPr>
          <a:xfrm flipH="1" flipV="1">
            <a:off x="2770632" y="4091939"/>
            <a:ext cx="2221991" cy="425603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map:landmark-label-5"/>
          <p:cNvSpPr txBox="1"/>
          <p:nvPr/>
        </p:nvSpPr>
        <p:spPr>
          <a:xfrm>
            <a:off x="896112" y="392734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5. 大巴扎</a:t>
            </a:r>
          </a:p>
        </p:txBody>
      </p:sp>
      <p:sp>
        <p:nvSpPr>
          <p:cNvPr id="33" name="map:landmark-6"/>
          <p:cNvSpPr/>
          <p:nvPr/>
        </p:nvSpPr>
        <p:spPr>
          <a:xfrm>
            <a:off x="4239158" y="3869334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map:callout-6"/>
          <p:cNvCxnSpPr/>
          <p:nvPr/>
        </p:nvCxnSpPr>
        <p:spPr>
          <a:xfrm flipH="1">
            <a:off x="2770632" y="3969918"/>
            <a:ext cx="1569110" cy="516357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map:landmark-label-6"/>
          <p:cNvSpPr txBox="1"/>
          <p:nvPr/>
        </p:nvSpPr>
        <p:spPr>
          <a:xfrm>
            <a:off x="896112" y="4321683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6. 苏莱曼尼清真寺</a:t>
            </a:r>
          </a:p>
        </p:txBody>
      </p:sp>
      <p:sp>
        <p:nvSpPr>
          <p:cNvPr id="36" name="map:landmark-7"/>
          <p:cNvSpPr/>
          <p:nvPr/>
        </p:nvSpPr>
        <p:spPr>
          <a:xfrm>
            <a:off x="5669279" y="3471062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map:callout-7"/>
          <p:cNvCxnSpPr/>
          <p:nvPr/>
        </p:nvCxnSpPr>
        <p:spPr>
          <a:xfrm flipH="1">
            <a:off x="2770632" y="3571646"/>
            <a:ext cx="2999231" cy="1308964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map:landmark-label-7"/>
          <p:cNvSpPr txBox="1"/>
          <p:nvPr/>
        </p:nvSpPr>
        <p:spPr>
          <a:xfrm>
            <a:off x="896112" y="471601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7. 加拉塔大桥</a:t>
            </a:r>
          </a:p>
        </p:txBody>
      </p:sp>
      <p:sp>
        <p:nvSpPr>
          <p:cNvPr id="39" name="map:landmark-8"/>
          <p:cNvSpPr/>
          <p:nvPr/>
        </p:nvSpPr>
        <p:spPr>
          <a:xfrm>
            <a:off x="1938528" y="2545080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map:callout-8"/>
          <p:cNvCxnSpPr/>
          <p:nvPr/>
        </p:nvCxnSpPr>
        <p:spPr>
          <a:xfrm>
            <a:off x="2039112" y="2645664"/>
            <a:ext cx="731520" cy="2629281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map:landmark-label-8"/>
          <p:cNvSpPr txBox="1"/>
          <p:nvPr/>
        </p:nvSpPr>
        <p:spPr>
          <a:xfrm>
            <a:off x="896112" y="5110353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8. 巴拉特彩色街区</a:t>
            </a:r>
          </a:p>
        </p:txBody>
      </p:sp>
      <p:sp>
        <p:nvSpPr>
          <p:cNvPr id="42" name="map:landmark-9"/>
          <p:cNvSpPr/>
          <p:nvPr/>
        </p:nvSpPr>
        <p:spPr>
          <a:xfrm>
            <a:off x="5327294" y="3769766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map:callout-9"/>
          <p:cNvCxnSpPr/>
          <p:nvPr/>
        </p:nvCxnSpPr>
        <p:spPr>
          <a:xfrm flipH="1">
            <a:off x="2770632" y="3870350"/>
            <a:ext cx="2657246" cy="1798929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map:landmark-label-9"/>
          <p:cNvSpPr txBox="1"/>
          <p:nvPr/>
        </p:nvSpPr>
        <p:spPr>
          <a:xfrm>
            <a:off x="896112" y="550468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9. Eminönü 轮渡</a:t>
            </a:r>
          </a:p>
        </p:txBody>
      </p:sp>
      <p:sp>
        <p:nvSpPr>
          <p:cNvPr id="45" name="layout:geo_route_map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D1 怎么玩：景点、脚力和拍摄窗口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按原文重排为可执行顺序</a:t>
            </a:r>
          </a:p>
        </p:txBody>
      </p:sp>
      <p:sp>
        <p:nvSpPr>
          <p:cNvPr id="5" name="timeline:event-1"/>
          <p:cNvSpPr/>
          <p:nvPr/>
        </p:nvSpPr>
        <p:spPr>
          <a:xfrm>
            <a:off x="658368" y="1874519"/>
            <a:ext cx="5230368" cy="912114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清晨 · 蓝色清真寺 / 圣索菲亚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住附近步行；圣索菲亚仅建议历史爱好者付费进入</a:t>
            </a:r>
          </a:p>
        </p:txBody>
      </p:sp>
      <p:sp>
        <p:nvSpPr>
          <p:cNvPr id="6" name="timeline:event-2"/>
          <p:cNvSpPr/>
          <p:nvPr/>
        </p:nvSpPr>
        <p:spPr>
          <a:xfrm>
            <a:off x="6309359" y="1874519"/>
            <a:ext cx="5230368" cy="912114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上午 · 苏莱曼尼清真寺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山头步行，怕爬坡者可跳过</a:t>
            </a:r>
          </a:p>
        </p:txBody>
      </p:sp>
      <p:sp>
        <p:nvSpPr>
          <p:cNvPr id="7" name="timeline:event-3"/>
          <p:cNvSpPr/>
          <p:nvPr/>
        </p:nvSpPr>
        <p:spPr>
          <a:xfrm>
            <a:off x="658368" y="2914650"/>
            <a:ext cx="5230368" cy="912114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午前 · Sarayburnu Parkı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从居尔哈尼公园穿到海边，人少看海</a:t>
            </a:r>
          </a:p>
        </p:txBody>
      </p:sp>
      <p:sp>
        <p:nvSpPr>
          <p:cNvPr id="8" name="timeline:event-4"/>
          <p:cNvSpPr/>
          <p:nvPr/>
        </p:nvSpPr>
        <p:spPr>
          <a:xfrm>
            <a:off x="6309359" y="2914650"/>
            <a:ext cx="5230368" cy="912114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中午 · 加拉塔大桥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看当地人钓鱼，也是原文重点出片位</a:t>
            </a:r>
          </a:p>
        </p:txBody>
      </p:sp>
      <p:sp>
        <p:nvSpPr>
          <p:cNvPr id="9" name="timeline:event-5"/>
          <p:cNvSpPr/>
          <p:nvPr/>
        </p:nvSpPr>
        <p:spPr>
          <a:xfrm>
            <a:off x="658368" y="3954779"/>
            <a:ext cx="5230368" cy="912114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下午 · 大巴扎 / 巴拉特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大巴扎快逛；巴拉特喝茶发呆，但要爬坡</a:t>
            </a:r>
          </a:p>
        </p:txBody>
      </p:sp>
      <p:sp>
        <p:nvSpPr>
          <p:cNvPr id="10" name="timeline:event-6"/>
          <p:cNvSpPr/>
          <p:nvPr/>
        </p:nvSpPr>
        <p:spPr>
          <a:xfrm>
            <a:off x="6309359" y="3954779"/>
            <a:ext cx="5230368" cy="912114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傍晚 · Seven Hills / 黄昏轮渡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楼顶喂海鸥；轮渡须按日期、码头和官方时刻表复核，不写死班次</a:t>
            </a:r>
          </a:p>
        </p:txBody>
      </p:sp>
      <p:sp>
        <p:nvSpPr>
          <p:cNvPr id="11" name="timeline:event-7"/>
          <p:cNvSpPr/>
          <p:nvPr/>
        </p:nvSpPr>
        <p:spPr>
          <a:xfrm>
            <a:off x="658368" y="4994909"/>
            <a:ext cx="5230368" cy="912114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夜间 · 土耳其浴二选一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Kadırga 更省；Çemberlitaş 知名度高、原文判断更贵</a:t>
            </a:r>
          </a:p>
        </p:txBody>
      </p:sp>
      <p:sp>
        <p:nvSpPr>
          <p:cNvPr id="12" name="layout:timelin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D2 纠偏地图 · 欧洲侧拍照 → 亚洲侧发呆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独立大街、加拉塔塔、奥塔科伊在欧洲侧；过海后才到 Üsküdar / Kuzguncuk</a:t>
            </a:r>
          </a:p>
        </p:txBody>
      </p:sp>
      <p:pic>
        <p:nvPicPr>
          <p:cNvPr id="5" name="map:base-rea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235" y="1600200"/>
            <a:ext cx="8401050" cy="4480560"/>
          </a:xfrm>
          <a:prstGeom prst="rect">
            <a:avLst/>
          </a:prstGeom>
        </p:spPr>
      </p:pic>
      <p:sp>
        <p:nvSpPr>
          <p:cNvPr id="6" name="map:label-europe"/>
          <p:cNvSpPr txBox="1"/>
          <p:nvPr/>
        </p:nvSpPr>
        <p:spPr>
          <a:xfrm>
            <a:off x="960119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27D"/>
                </a:solidFill>
                <a:latin typeface="Avenir Next"/>
              </a:rPr>
              <a:t>EUROPE</a:t>
            </a:r>
          </a:p>
        </p:txBody>
      </p:sp>
      <p:sp>
        <p:nvSpPr>
          <p:cNvPr id="7" name="map:label-asia"/>
          <p:cNvSpPr txBox="1"/>
          <p:nvPr/>
        </p:nvSpPr>
        <p:spPr>
          <a:xfrm>
            <a:off x="9372600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27D"/>
                </a:solidFill>
                <a:latin typeface="Avenir Next"/>
              </a:rPr>
              <a:t>ASIA</a:t>
            </a:r>
          </a:p>
        </p:txBody>
      </p:sp>
      <p:sp>
        <p:nvSpPr>
          <p:cNvPr id="8" name="map:label-bosphorus"/>
          <p:cNvSpPr txBox="1"/>
          <p:nvPr/>
        </p:nvSpPr>
        <p:spPr>
          <a:xfrm>
            <a:off x="6537960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27D"/>
                </a:solidFill>
                <a:latin typeface="Avenir Next"/>
              </a:rPr>
              <a:t>BOSPHORUS</a:t>
            </a:r>
          </a:p>
        </p:txBody>
      </p:sp>
      <p:sp>
        <p:nvSpPr>
          <p:cNvPr id="9" name="map:attribution"/>
          <p:cNvSpPr txBox="1"/>
          <p:nvPr/>
        </p:nvSpPr>
        <p:spPr>
          <a:xfrm>
            <a:off x="4069080" y="5824728"/>
            <a:ext cx="402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27D"/>
                </a:solidFill>
                <a:latin typeface="Avenir Next"/>
              </a:rPr>
              <a:t>© OpenStreetMap contributors · ODbL 1.0</a:t>
            </a:r>
          </a:p>
        </p:txBody>
      </p:sp>
      <p:cxnSp>
        <p:nvCxnSpPr>
          <p:cNvPr id="10" name="map:route-1"/>
          <p:cNvCxnSpPr/>
          <p:nvPr/>
        </p:nvCxnSpPr>
        <p:spPr>
          <a:xfrm flipH="1">
            <a:off x="5462854" y="3473888"/>
            <a:ext cx="81610" cy="342152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ap:route-2"/>
          <p:cNvCxnSpPr/>
          <p:nvPr/>
        </p:nvCxnSpPr>
        <p:spPr>
          <a:xfrm flipV="1">
            <a:off x="5462854" y="2936221"/>
            <a:ext cx="2055800" cy="879819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ap:route-3"/>
          <p:cNvCxnSpPr/>
          <p:nvPr/>
        </p:nvCxnSpPr>
        <p:spPr>
          <a:xfrm flipH="1">
            <a:off x="7063968" y="2936221"/>
            <a:ext cx="454686" cy="835013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ap:route-4"/>
          <p:cNvCxnSpPr/>
          <p:nvPr/>
        </p:nvCxnSpPr>
        <p:spPr>
          <a:xfrm flipV="1">
            <a:off x="7063968" y="3335398"/>
            <a:ext cx="555727" cy="435836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ap:landmark-1"/>
          <p:cNvSpPr/>
          <p:nvPr/>
        </p:nvSpPr>
        <p:spPr>
          <a:xfrm>
            <a:off x="5443880" y="3373304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map:callout-1"/>
          <p:cNvCxnSpPr/>
          <p:nvPr/>
        </p:nvCxnSpPr>
        <p:spPr>
          <a:xfrm flipH="1" flipV="1">
            <a:off x="2770632" y="2514600"/>
            <a:ext cx="2773832" cy="959288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p:landmark-label-1"/>
          <p:cNvSpPr txBox="1"/>
          <p:nvPr/>
        </p:nvSpPr>
        <p:spPr>
          <a:xfrm>
            <a:off x="896112" y="235000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1. 独立大街</a:t>
            </a:r>
          </a:p>
        </p:txBody>
      </p:sp>
      <p:sp>
        <p:nvSpPr>
          <p:cNvPr id="17" name="map:landmark-2"/>
          <p:cNvSpPr/>
          <p:nvPr/>
        </p:nvSpPr>
        <p:spPr>
          <a:xfrm>
            <a:off x="5362270" y="3715456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map:callout-2"/>
          <p:cNvCxnSpPr/>
          <p:nvPr/>
        </p:nvCxnSpPr>
        <p:spPr>
          <a:xfrm flipH="1">
            <a:off x="2770632" y="3816040"/>
            <a:ext cx="2692222" cy="275899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ap:landmark-label-2"/>
          <p:cNvSpPr txBox="1"/>
          <p:nvPr/>
        </p:nvSpPr>
        <p:spPr>
          <a:xfrm>
            <a:off x="896112" y="392734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2. Galata Tower</a:t>
            </a:r>
          </a:p>
        </p:txBody>
      </p:sp>
      <p:sp>
        <p:nvSpPr>
          <p:cNvPr id="20" name="map:landmark-3"/>
          <p:cNvSpPr/>
          <p:nvPr/>
        </p:nvSpPr>
        <p:spPr>
          <a:xfrm>
            <a:off x="7418070" y="2835637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map:callout-3"/>
          <p:cNvCxnSpPr/>
          <p:nvPr/>
        </p:nvCxnSpPr>
        <p:spPr>
          <a:xfrm flipH="1">
            <a:off x="2770632" y="2936221"/>
            <a:ext cx="4748022" cy="2733058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ap:landmark-label-3"/>
          <p:cNvSpPr txBox="1"/>
          <p:nvPr/>
        </p:nvSpPr>
        <p:spPr>
          <a:xfrm>
            <a:off x="896112" y="550468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3. 奥塔科伊清真寺</a:t>
            </a:r>
          </a:p>
        </p:txBody>
      </p:sp>
      <p:sp>
        <p:nvSpPr>
          <p:cNvPr id="23" name="map:landmark-4"/>
          <p:cNvSpPr/>
          <p:nvPr/>
        </p:nvSpPr>
        <p:spPr>
          <a:xfrm>
            <a:off x="6963384" y="3670650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map:callout-4"/>
          <p:cNvCxnSpPr/>
          <p:nvPr/>
        </p:nvCxnSpPr>
        <p:spPr>
          <a:xfrm flipV="1">
            <a:off x="7063968" y="2514600"/>
            <a:ext cx="2125751" cy="1256634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map:landmark-label-4"/>
          <p:cNvSpPr txBox="1"/>
          <p:nvPr/>
        </p:nvSpPr>
        <p:spPr>
          <a:xfrm>
            <a:off x="9189719" y="235000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4. Üsküdar</a:t>
            </a:r>
          </a:p>
        </p:txBody>
      </p:sp>
      <p:sp>
        <p:nvSpPr>
          <p:cNvPr id="26" name="map:landmark-5"/>
          <p:cNvSpPr/>
          <p:nvPr/>
        </p:nvSpPr>
        <p:spPr>
          <a:xfrm>
            <a:off x="7519111" y="3234814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map:callout-5"/>
          <p:cNvCxnSpPr/>
          <p:nvPr/>
        </p:nvCxnSpPr>
        <p:spPr>
          <a:xfrm>
            <a:off x="7619695" y="3335398"/>
            <a:ext cx="1570024" cy="2333881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map:landmark-label-5"/>
          <p:cNvSpPr txBox="1"/>
          <p:nvPr/>
        </p:nvSpPr>
        <p:spPr>
          <a:xfrm>
            <a:off x="9189719" y="550468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5. Kuzguncuk</a:t>
            </a:r>
          </a:p>
        </p:txBody>
      </p:sp>
      <p:sp>
        <p:nvSpPr>
          <p:cNvPr id="29" name="layout:geo_route_map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D2 可执行玩法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修正‘亚洲区’标题下的地理混排，不删原有玩法</a:t>
            </a:r>
          </a:p>
        </p:txBody>
      </p:sp>
      <p:sp>
        <p:nvSpPr>
          <p:cNvPr id="5" name="timeline:event-1"/>
          <p:cNvSpPr/>
          <p:nvPr/>
        </p:nvSpPr>
        <p:spPr>
          <a:xfrm>
            <a:off x="658368" y="1874519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上午 · 独立大街 → 加拉塔塔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都在欧洲侧；拍照可用 Galata Konak Cafe 替代登塔</a:t>
            </a:r>
          </a:p>
        </p:txBody>
      </p:sp>
      <p:sp>
        <p:nvSpPr>
          <p:cNvPr id="6" name="timeline:event-2"/>
          <p:cNvSpPr/>
          <p:nvPr/>
        </p:nvSpPr>
        <p:spPr>
          <a:xfrm>
            <a:off x="6309359" y="1874519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午后 · 奥塔科伊清真寺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仍在欧洲侧；日落与黄昏轮渡二选一</a:t>
            </a:r>
          </a:p>
        </p:txBody>
      </p:sp>
      <p:sp>
        <p:nvSpPr>
          <p:cNvPr id="7" name="timeline:event-3"/>
          <p:cNvSpPr/>
          <p:nvPr/>
        </p:nvSpPr>
        <p:spPr>
          <a:xfrm>
            <a:off x="658368" y="3261360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过海 · 轮渡到 Üsküdar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把跨洲动作在地图中明确标出，避免折返</a:t>
            </a:r>
          </a:p>
        </p:txBody>
      </p:sp>
      <p:sp>
        <p:nvSpPr>
          <p:cNvPr id="8" name="timeline:event-4"/>
          <p:cNvSpPr/>
          <p:nvPr/>
        </p:nvSpPr>
        <p:spPr>
          <a:xfrm>
            <a:off x="6309359" y="3261360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下午 · Kuzguncuk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亚洲区休闲街区，买咖啡、慢走发呆</a:t>
            </a:r>
          </a:p>
        </p:txBody>
      </p:sp>
      <p:sp>
        <p:nvSpPr>
          <p:cNvPr id="9" name="timeline:event-5"/>
          <p:cNvSpPr/>
          <p:nvPr/>
        </p:nvSpPr>
        <p:spPr>
          <a:xfrm>
            <a:off x="658368" y="4648200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餐饮 · Nusr-Et 移回 D1/老城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该店位于大巴扎，不应作为亚洲区路线终点</a:t>
            </a:r>
          </a:p>
        </p:txBody>
      </p:sp>
      <p:sp>
        <p:nvSpPr>
          <p:cNvPr id="10" name="layout:timelin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住哪里：原文只支持 1 个区域 + 1 个具名选择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不擅自扩写酒店榜单</a:t>
            </a:r>
          </a:p>
        </p:txBody>
      </p:sp>
      <p:sp>
        <p:nvSpPr>
          <p:cNvPr id="5" name="text:metric"/>
          <p:cNvSpPr txBox="1"/>
          <p:nvPr/>
        </p:nvSpPr>
        <p:spPr>
          <a:xfrm>
            <a:off x="777240" y="1828800"/>
            <a:ext cx="3657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D85A3A"/>
                </a:solidFill>
                <a:latin typeface="Avenir Next"/>
              </a:rPr>
              <a:t>1个步行基地</a:t>
            </a:r>
          </a:p>
        </p:txBody>
      </p:sp>
      <p:sp>
        <p:nvSpPr>
          <p:cNvPr id="6" name="text:data-body"/>
          <p:cNvSpPr txBox="1"/>
          <p:nvPr/>
        </p:nvSpPr>
        <p:spPr>
          <a:xfrm>
            <a:off x="822960" y="3154680"/>
            <a:ext cx="3749039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72A3A"/>
                </a:solidFill>
                <a:latin typeface="Avenir Next"/>
              </a:rPr>
              <a:t>首选 Sultanahmet（蓝色清真寺 / 圣索菲亚附近）：D1 核心景点可步行，减少拖行李和多次换乘。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655064"/>
            <a:ext cx="6729984" cy="4270248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783080"/>
            <a:ext cx="64008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A3A"/>
                </a:solidFill>
                <a:latin typeface="Avenir Next"/>
              </a:defRPr>
            </a:pPr>
            <a:r>
              <a:rPr sz="2000" b="0">
                <a:solidFill>
                  <a:srgbClr val="172A3A"/>
                </a:solidFill>
                <a:latin typeface="Avenir Next"/>
              </a:rPr>
              <a:t>Seven Hills：原文作者入住，楼顶可喂海鸥、拍清真寺景观</a:t>
            </a:r>
          </a:p>
          <a:p>
            <a:pPr>
              <a:spcAft>
                <a:spcPts val="1200"/>
              </a:spcAft>
              <a:defRPr sz="2000">
                <a:solidFill>
                  <a:srgbClr val="172A3A"/>
                </a:solidFill>
                <a:latin typeface="Avenir Next"/>
              </a:defRPr>
            </a:pPr>
            <a:r>
              <a:rPr sz="2000" b="0">
                <a:solidFill>
                  <a:srgbClr val="172A3A"/>
                </a:solidFill>
                <a:latin typeface="Avenir Next"/>
              </a:rPr>
              <a:t>选择时检查坡度、是否有电梯、拖箱距离</a:t>
            </a:r>
          </a:p>
          <a:p>
            <a:pPr>
              <a:spcAft>
                <a:spcPts val="1200"/>
              </a:spcAft>
              <a:defRPr sz="2000">
                <a:solidFill>
                  <a:srgbClr val="172A3A"/>
                </a:solidFill>
                <a:latin typeface="Avenir Next"/>
              </a:defRPr>
            </a:pPr>
            <a:r>
              <a:rPr sz="2000" b="0">
                <a:solidFill>
                  <a:srgbClr val="172A3A"/>
                </a:solidFill>
                <a:latin typeface="Avenir Next"/>
              </a:rPr>
              <a:t>原文没有更多酒店实测，输出不虚构第二家酒店</a:t>
            </a:r>
          </a:p>
        </p:txBody>
      </p:sp>
      <p:sp>
        <p:nvSpPr>
          <p:cNvPr id="9" name="layout:data_story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吃什么 / 去哪拍：只用原文出现的 3 个点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餐厅与拍照替代位分开；价格、营业状态均须出发前复核</a:t>
            </a:r>
          </a:p>
        </p:txBody>
      </p:sp>
      <p:sp>
        <p:nvSpPr>
          <p:cNvPr id="5" name="card:icon-1"/>
          <p:cNvSpPr/>
          <p:nvPr/>
        </p:nvSpPr>
        <p:spPr>
          <a:xfrm>
            <a:off x="621792" y="162763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ector:1:1"/>
          <p:cNvSpPr/>
          <p:nvPr/>
        </p:nvSpPr>
        <p:spPr>
          <a:xfrm>
            <a:off x="930402" y="1972818"/>
            <a:ext cx="370332" cy="370332"/>
          </a:xfrm>
          <a:prstGeom prst="ellipse">
            <a:avLst/>
          </a:prstGeom>
          <a:noFill/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vector:1:2"/>
          <p:cNvCxnSpPr/>
          <p:nvPr/>
        </p:nvCxnSpPr>
        <p:spPr>
          <a:xfrm>
            <a:off x="868680" y="1952243"/>
            <a:ext cx="0" cy="432055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ector:1:3"/>
          <p:cNvCxnSpPr/>
          <p:nvPr/>
        </p:nvCxnSpPr>
        <p:spPr>
          <a:xfrm>
            <a:off x="1362456" y="1952243"/>
            <a:ext cx="0" cy="432055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:icon-1"/>
          <p:cNvSpPr txBox="1"/>
          <p:nvPr/>
        </p:nvSpPr>
        <p:spPr>
          <a:xfrm>
            <a:off x="1609344" y="181051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Sirkeci Lokantası 1912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大巴扎周边；原文称 007 拍摄地，适合顺路</a:t>
            </a:r>
          </a:p>
        </p:txBody>
      </p:sp>
      <p:sp>
        <p:nvSpPr>
          <p:cNvPr id="10" name="card:icon-2"/>
          <p:cNvSpPr/>
          <p:nvPr/>
        </p:nvSpPr>
        <p:spPr>
          <a:xfrm>
            <a:off x="4279392" y="162763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ector:2:1"/>
          <p:cNvSpPr/>
          <p:nvPr/>
        </p:nvSpPr>
        <p:spPr>
          <a:xfrm>
            <a:off x="4608575" y="2116836"/>
            <a:ext cx="329184" cy="246888"/>
          </a:xfrm>
          <a:prstGeom prst="rect">
            <a:avLst/>
          </a:prstGeom>
          <a:solidFill>
            <a:srgbClr val="D85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vector:2:2"/>
          <p:cNvCxnSpPr/>
          <p:nvPr/>
        </p:nvCxnSpPr>
        <p:spPr>
          <a:xfrm flipV="1">
            <a:off x="4567427" y="1931669"/>
            <a:ext cx="205741" cy="185167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vector:2:3"/>
          <p:cNvCxnSpPr/>
          <p:nvPr/>
        </p:nvCxnSpPr>
        <p:spPr>
          <a:xfrm>
            <a:off x="4773168" y="1931669"/>
            <a:ext cx="205739" cy="185167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icon-2"/>
          <p:cNvSpPr txBox="1"/>
          <p:nvPr/>
        </p:nvSpPr>
        <p:spPr>
          <a:xfrm>
            <a:off x="5266944" y="181051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Nusr-Et Kapalıçarşı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位于大巴扎；原文评价价格略贵、品质可以</a:t>
            </a:r>
          </a:p>
        </p:txBody>
      </p:sp>
      <p:sp>
        <p:nvSpPr>
          <p:cNvPr id="15" name="card:icon-3"/>
          <p:cNvSpPr/>
          <p:nvPr/>
        </p:nvSpPr>
        <p:spPr>
          <a:xfrm>
            <a:off x="7936992" y="162763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ector:3:1"/>
          <p:cNvSpPr/>
          <p:nvPr/>
        </p:nvSpPr>
        <p:spPr>
          <a:xfrm>
            <a:off x="8204454" y="2034540"/>
            <a:ext cx="452628" cy="329184"/>
          </a:xfrm>
          <a:prstGeom prst="rect">
            <a:avLst/>
          </a:prstGeom>
          <a:noFill/>
          <a:ln>
            <a:solidFill>
              <a:srgbClr val="17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ector:3:2"/>
          <p:cNvSpPr/>
          <p:nvPr/>
        </p:nvSpPr>
        <p:spPr>
          <a:xfrm>
            <a:off x="8327898" y="2096262"/>
            <a:ext cx="205739" cy="205739"/>
          </a:xfrm>
          <a:prstGeom prst="ellipse">
            <a:avLst/>
          </a:prstGeom>
          <a:solidFill>
            <a:srgbClr val="D85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ector:3:3"/>
          <p:cNvSpPr/>
          <p:nvPr/>
        </p:nvSpPr>
        <p:spPr>
          <a:xfrm>
            <a:off x="8307323" y="1972818"/>
            <a:ext cx="144018" cy="82296"/>
          </a:xfrm>
          <a:prstGeom prst="rect">
            <a:avLst/>
          </a:prstGeom>
          <a:solidFill>
            <a:srgbClr val="172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icon-3"/>
          <p:cNvSpPr txBox="1"/>
          <p:nvPr/>
        </p:nvSpPr>
        <p:spPr>
          <a:xfrm>
            <a:off x="8924544" y="181051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Galata Konak Cafe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仅作不登加拉塔塔的拍照替代点；原文称可省 30 欧，非餐食品质推荐</a:t>
            </a:r>
          </a:p>
        </p:txBody>
      </p:sp>
      <p:sp>
        <p:nvSpPr>
          <p:cNvPr id="20" name="card:icon-4"/>
          <p:cNvSpPr/>
          <p:nvPr/>
        </p:nvSpPr>
        <p:spPr>
          <a:xfrm>
            <a:off x="621792" y="377647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vector:4:1"/>
          <p:cNvCxnSpPr/>
          <p:nvPr/>
        </p:nvCxnSpPr>
        <p:spPr>
          <a:xfrm>
            <a:off x="868680" y="4471416"/>
            <a:ext cx="493776" cy="0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ector:4:2"/>
          <p:cNvCxnSpPr/>
          <p:nvPr/>
        </p:nvCxnSpPr>
        <p:spPr>
          <a:xfrm>
            <a:off x="930402" y="4162805"/>
            <a:ext cx="0" cy="329185"/>
          </a:xfrm>
          <a:prstGeom prst="line">
            <a:avLst/>
          </a:prstGeom>
          <a:ln w="127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ector:4:3"/>
          <p:cNvCxnSpPr/>
          <p:nvPr/>
        </p:nvCxnSpPr>
        <p:spPr>
          <a:xfrm>
            <a:off x="1300734" y="4162805"/>
            <a:ext cx="0" cy="329185"/>
          </a:xfrm>
          <a:prstGeom prst="line">
            <a:avLst/>
          </a:prstGeom>
          <a:ln w="127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ector:4:4"/>
          <p:cNvCxnSpPr/>
          <p:nvPr/>
        </p:nvCxnSpPr>
        <p:spPr>
          <a:xfrm>
            <a:off x="930402" y="4183379"/>
            <a:ext cx="370332" cy="0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:icon-4"/>
          <p:cNvSpPr txBox="1"/>
          <p:nvPr/>
        </p:nvSpPr>
        <p:spPr>
          <a:xfrm>
            <a:off x="1609344" y="395935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绑定地图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两家餐厅跟大巴扎/老城走，不另起一条觅食路线</a:t>
            </a:r>
          </a:p>
        </p:txBody>
      </p:sp>
      <p:sp>
        <p:nvSpPr>
          <p:cNvPr id="26" name="card:icon-5"/>
          <p:cNvSpPr/>
          <p:nvPr/>
        </p:nvSpPr>
        <p:spPr>
          <a:xfrm>
            <a:off x="4279392" y="377647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ector:5:1"/>
          <p:cNvSpPr/>
          <p:nvPr/>
        </p:nvSpPr>
        <p:spPr>
          <a:xfrm>
            <a:off x="4711446" y="4039361"/>
            <a:ext cx="123444" cy="123444"/>
          </a:xfrm>
          <a:prstGeom prst="ellipse">
            <a:avLst/>
          </a:prstGeom>
          <a:solidFill>
            <a:srgbClr val="D85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vector:5:2"/>
          <p:cNvCxnSpPr/>
          <p:nvPr/>
        </p:nvCxnSpPr>
        <p:spPr>
          <a:xfrm flipH="1">
            <a:off x="4752594" y="4162805"/>
            <a:ext cx="20574" cy="205741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ector:5:3"/>
          <p:cNvCxnSpPr/>
          <p:nvPr/>
        </p:nvCxnSpPr>
        <p:spPr>
          <a:xfrm flipH="1">
            <a:off x="4629149" y="4255389"/>
            <a:ext cx="123445" cy="92583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ector:5:4"/>
          <p:cNvCxnSpPr/>
          <p:nvPr/>
        </p:nvCxnSpPr>
        <p:spPr>
          <a:xfrm flipH="1">
            <a:off x="4629149" y="4368546"/>
            <a:ext cx="123445" cy="164592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ector:5:5"/>
          <p:cNvCxnSpPr/>
          <p:nvPr/>
        </p:nvCxnSpPr>
        <p:spPr>
          <a:xfrm>
            <a:off x="4752594" y="4368546"/>
            <a:ext cx="164592" cy="144018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:icon-5"/>
          <p:cNvSpPr txBox="1"/>
          <p:nvPr/>
        </p:nvSpPr>
        <p:spPr>
          <a:xfrm>
            <a:off x="5266944" y="395935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住宿减步行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住 Sultanahmet，把体力留给苏莱曼尼、巴拉特和加拉塔坡路</a:t>
            </a:r>
          </a:p>
        </p:txBody>
      </p:sp>
      <p:sp>
        <p:nvSpPr>
          <p:cNvPr id="33" name="card:icon-6"/>
          <p:cNvSpPr/>
          <p:nvPr/>
        </p:nvSpPr>
        <p:spPr>
          <a:xfrm>
            <a:off x="7936992" y="377647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ector:6:1"/>
          <p:cNvSpPr/>
          <p:nvPr/>
        </p:nvSpPr>
        <p:spPr>
          <a:xfrm>
            <a:off x="8225027" y="4265676"/>
            <a:ext cx="411479" cy="164592"/>
          </a:xfrm>
          <a:prstGeom prst="rect">
            <a:avLst/>
          </a:prstGeom>
          <a:solidFill>
            <a:srgbClr val="D85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vector:6:2"/>
          <p:cNvCxnSpPr/>
          <p:nvPr/>
        </p:nvCxnSpPr>
        <p:spPr>
          <a:xfrm>
            <a:off x="8183879" y="4450842"/>
            <a:ext cx="493777" cy="0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vector:6:3"/>
          <p:cNvSpPr/>
          <p:nvPr/>
        </p:nvSpPr>
        <p:spPr>
          <a:xfrm>
            <a:off x="8348471" y="4162805"/>
            <a:ext cx="185166" cy="102869"/>
          </a:xfrm>
          <a:prstGeom prst="rect">
            <a:avLst/>
          </a:prstGeom>
          <a:solidFill>
            <a:srgbClr val="172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icon-6"/>
          <p:cNvSpPr txBox="1"/>
          <p:nvPr/>
        </p:nvSpPr>
        <p:spPr>
          <a:xfrm>
            <a:off x="8924544" y="395935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跨海不折返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去 Kuzguncuk 当天不要再回大巴扎吃 Nusr-Et</a:t>
            </a:r>
          </a:p>
        </p:txBody>
      </p:sp>
      <p:sp>
        <p:nvSpPr>
          <p:cNvPr id="38" name="layout:icon_facts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真正有用的“避坑 × 出片”清单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把原文态度转成决策，而不是改写成城市百科</a:t>
            </a:r>
          </a:p>
        </p:txBody>
      </p:sp>
      <p:sp>
        <p:nvSpPr>
          <p:cNvPr id="5" name="timeline:event-1"/>
          <p:cNvSpPr/>
          <p:nvPr/>
        </p:nvSpPr>
        <p:spPr>
          <a:xfrm>
            <a:off x="658368" y="1874519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脚力 · 三段坡路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苏莱曼尼、巴拉特、加拉塔涉及坡路；行李多或行动不便就减站</a:t>
            </a:r>
          </a:p>
        </p:txBody>
      </p:sp>
      <p:sp>
        <p:nvSpPr>
          <p:cNvPr id="6" name="timeline:event-2"/>
          <p:cNvSpPr/>
          <p:nvPr/>
        </p:nvSpPr>
        <p:spPr>
          <a:xfrm>
            <a:off x="6309359" y="1874519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出片 · 三个窗口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加拉塔大桥钓鱼、Seven Hills 海鸥、奥塔科伊/轮渡日落</a:t>
            </a:r>
          </a:p>
        </p:txBody>
      </p:sp>
      <p:sp>
        <p:nvSpPr>
          <p:cNvPr id="7" name="timeline:event-3"/>
          <p:cNvSpPr/>
          <p:nvPr/>
        </p:nvSpPr>
        <p:spPr>
          <a:xfrm>
            <a:off x="658368" y="3261360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门票 · 按兴趣付费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圣索菲亚与加拉塔塔按兴趣决定，不为打卡强上</a:t>
            </a:r>
          </a:p>
        </p:txBody>
      </p:sp>
      <p:sp>
        <p:nvSpPr>
          <p:cNvPr id="8" name="timeline:event-4"/>
          <p:cNvSpPr/>
          <p:nvPr/>
        </p:nvSpPr>
        <p:spPr>
          <a:xfrm>
            <a:off x="6309359" y="3261360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黄昏 · 日落只排一个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黄昏轮渡与奥塔科伊日落冲突，两天内不要重复抢同一窗口</a:t>
            </a:r>
          </a:p>
        </p:txBody>
      </p:sp>
      <p:sp>
        <p:nvSpPr>
          <p:cNvPr id="9" name="timeline:event-5"/>
          <p:cNvSpPr/>
          <p:nvPr/>
        </p:nvSpPr>
        <p:spPr>
          <a:xfrm>
            <a:off x="658368" y="4648200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价格 · 原文价不当实时价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4500 里拉、165 里拉、30 欧保留为原文经验，并标记实时复核</a:t>
            </a:r>
          </a:p>
        </p:txBody>
      </p:sp>
      <p:sp>
        <p:nvSpPr>
          <p:cNvPr id="10" name="timeline:event-6"/>
          <p:cNvSpPr/>
          <p:nvPr/>
        </p:nvSpPr>
        <p:spPr>
          <a:xfrm>
            <a:off x="6309359" y="4648200"/>
            <a:ext cx="5230368" cy="1258823"/>
          </a:xfrm>
          <a:prstGeom prst="roundRect">
            <a:avLst/>
          </a:prstGeom>
          <a:solidFill>
            <a:srgbClr val="F3EBDD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/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跨洲 · 避免折返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先走完欧洲侧，再从 Üsküdar 衔接 Kuzguncuk</a:t>
            </a:r>
          </a:p>
        </p:txBody>
      </p:sp>
      <p:sp>
        <p:nvSpPr>
          <p:cNvPr id="11" name="layout:timelin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原文对应的四种画面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清真寺、海峡、历史空间与皇宫海岸</a:t>
            </a:r>
          </a:p>
        </p:txBody>
      </p:sp>
      <p:sp>
        <p:nvSpPr>
          <p:cNvPr id="5" name="photo-frame:1"/>
          <p:cNvSpPr/>
          <p:nvPr/>
        </p:nvSpPr>
        <p:spPr>
          <a:xfrm>
            <a:off x="640080" y="1691640"/>
            <a:ext cx="5257800" cy="203454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hoto:scene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42" y="1691640"/>
            <a:ext cx="2471875" cy="1650492"/>
          </a:xfrm>
          <a:prstGeom prst="rect">
            <a:avLst/>
          </a:prstGeom>
        </p:spPr>
      </p:pic>
      <p:sp>
        <p:nvSpPr>
          <p:cNvPr id="7" name="source-caption:1"/>
          <p:cNvSpPr txBox="1"/>
          <p:nvPr/>
        </p:nvSpPr>
        <p:spPr>
          <a:xfrm>
            <a:off x="731519" y="3360420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27D"/>
                </a:solidFill>
                <a:latin typeface="Avenir Next"/>
              </a:rPr>
              <a:t>圣索菲亚 · Arild Vågen</a:t>
            </a:r>
          </a:p>
        </p:txBody>
      </p:sp>
      <p:sp>
        <p:nvSpPr>
          <p:cNvPr id="8" name="photo-frame:2"/>
          <p:cNvSpPr/>
          <p:nvPr/>
        </p:nvSpPr>
        <p:spPr>
          <a:xfrm>
            <a:off x="6172200" y="1691640"/>
            <a:ext cx="5257800" cy="203454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hoto:scene-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593" y="1691640"/>
            <a:ext cx="2303012" cy="1650492"/>
          </a:xfrm>
          <a:prstGeom prst="rect">
            <a:avLst/>
          </a:prstGeom>
        </p:spPr>
      </p:pic>
      <p:sp>
        <p:nvSpPr>
          <p:cNvPr id="10" name="source-caption:2"/>
          <p:cNvSpPr txBox="1"/>
          <p:nvPr/>
        </p:nvSpPr>
        <p:spPr>
          <a:xfrm>
            <a:off x="6263640" y="3360420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27D"/>
                </a:solidFill>
                <a:latin typeface="Avenir Next"/>
              </a:rPr>
              <a:t>Karaköy 轮渡 · Arild Vågen</a:t>
            </a:r>
          </a:p>
        </p:txBody>
      </p:sp>
      <p:sp>
        <p:nvSpPr>
          <p:cNvPr id="11" name="photo-frame:3"/>
          <p:cNvSpPr/>
          <p:nvPr/>
        </p:nvSpPr>
        <p:spPr>
          <a:xfrm>
            <a:off x="640080" y="3954780"/>
            <a:ext cx="5257800" cy="203454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hoto:scene-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846" y="3954780"/>
            <a:ext cx="1066266" cy="1650492"/>
          </a:xfrm>
          <a:prstGeom prst="rect">
            <a:avLst/>
          </a:prstGeom>
        </p:spPr>
      </p:pic>
      <p:sp>
        <p:nvSpPr>
          <p:cNvPr id="13" name="source-caption:3"/>
          <p:cNvSpPr txBox="1"/>
          <p:nvPr/>
        </p:nvSpPr>
        <p:spPr>
          <a:xfrm>
            <a:off x="731519" y="5623560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27D"/>
                </a:solidFill>
                <a:latin typeface="Avenir Next"/>
              </a:rPr>
              <a:t>地下水宫 · Diego Delso</a:t>
            </a:r>
          </a:p>
        </p:txBody>
      </p:sp>
      <p:sp>
        <p:nvSpPr>
          <p:cNvPr id="14" name="photo-frame:4"/>
          <p:cNvSpPr/>
          <p:nvPr/>
        </p:nvSpPr>
        <p:spPr>
          <a:xfrm>
            <a:off x="6172200" y="3954780"/>
            <a:ext cx="5257800" cy="203454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hoto:scene-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0772" y="3954780"/>
            <a:ext cx="2200656" cy="1650492"/>
          </a:xfrm>
          <a:prstGeom prst="rect">
            <a:avLst/>
          </a:prstGeom>
        </p:spPr>
      </p:pic>
      <p:sp>
        <p:nvSpPr>
          <p:cNvPr id="16" name="source-caption:4"/>
          <p:cNvSpPr txBox="1"/>
          <p:nvPr/>
        </p:nvSpPr>
        <p:spPr>
          <a:xfrm>
            <a:off x="6263640" y="5623560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27D"/>
                </a:solidFill>
                <a:latin typeface="Avenir Next"/>
              </a:rPr>
              <a:t>托普卡帕宫海岸 · Gryffindor</a:t>
            </a:r>
          </a:p>
        </p:txBody>
      </p:sp>
      <p:sp>
        <p:nvSpPr>
          <p:cNvPr id="17" name="layout:photo_collag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:quote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891"/>
            <a:ext cx="5623560" cy="4030218"/>
          </a:xfrm>
          <a:prstGeom prst="rect">
            <a:avLst/>
          </a:prstGeom>
        </p:spPr>
      </p:pic>
      <p:sp>
        <p:nvSpPr>
          <p:cNvPr id="3" name="text:quote"/>
          <p:cNvSpPr txBox="1"/>
          <p:nvPr/>
        </p:nvSpPr>
        <p:spPr>
          <a:xfrm>
            <a:off x="6172200" y="1371600"/>
            <a:ext cx="51663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“不是把景点堆满，而是用地图减少折返：住在老城、把坡路留给脚力、把黄昏留给轮渡或奥塔科伊。”</a:t>
            </a:r>
          </a:p>
        </p:txBody>
      </p:sp>
      <p:sp>
        <p:nvSpPr>
          <p:cNvPr id="4" name="text:attribution"/>
          <p:cNvSpPr txBox="1"/>
          <p:nvPr/>
        </p:nvSpPr>
        <p:spPr>
          <a:xfrm>
            <a:off x="6217920" y="4892040"/>
            <a:ext cx="4754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基于用户原文的可执行编排</a:t>
            </a:r>
          </a:p>
        </p:txBody>
      </p:sp>
      <p:sp>
        <p:nvSpPr>
          <p:cNvPr id="5" name="layout:quote_photo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